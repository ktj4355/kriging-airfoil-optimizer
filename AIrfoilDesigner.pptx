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7"/>
  </p:notesMasterIdLst>
  <p:sldIdLst>
    <p:sldId id="261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39C"/>
    <a:srgbClr val="FF0000"/>
    <a:srgbClr val="1C45A1"/>
    <a:srgbClr val="1C46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60"/>
  </p:normalViewPr>
  <p:slideViewPr>
    <p:cSldViewPr snapToGrid="0">
      <p:cViewPr>
        <p:scale>
          <a:sx n="75" d="100"/>
          <a:sy n="75" d="100"/>
        </p:scale>
        <p:origin x="1260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BA36C9-B602-4618-8D9A-DFBB7CB47E9E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E8AC6-2D86-4820-963B-CC0F28A06F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57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E8AC6-2D86-4820-963B-CC0F28A06FF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309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A8BE8-7336-4C32-6265-E32612BD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22AAE7-AFD2-D0C1-33D3-7BF19BD93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42A81F-4666-97F8-5194-E29766D2F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A94593-580A-59CE-9452-DE8931A02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4E8AC6-2D86-4820-963B-CC0F28A06FF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750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A39E82-A7E1-42BD-743D-6F40E19C01DA}"/>
              </a:ext>
            </a:extLst>
          </p:cNvPr>
          <p:cNvSpPr/>
          <p:nvPr userDrawn="1"/>
        </p:nvSpPr>
        <p:spPr>
          <a:xfrm>
            <a:off x="3105153" y="3402256"/>
            <a:ext cx="5981695" cy="534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35342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603" y="1245869"/>
            <a:ext cx="10735197" cy="4931094"/>
          </a:xfrm>
        </p:spPr>
        <p:txBody>
          <a:bodyPr>
            <a:normAutofit/>
          </a:bodyPr>
          <a:lstStyle>
            <a:lvl1pPr>
              <a:lnSpc>
                <a:spcPct val="114000"/>
              </a:lnSpc>
              <a:spcBef>
                <a:spcPts val="300"/>
              </a:spcBef>
              <a:defRPr sz="1800"/>
            </a:lvl1pPr>
            <a:lvl2pPr marL="540000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defRPr sz="1600"/>
            </a:lvl2pPr>
            <a:lvl3pPr marL="900000">
              <a:lnSpc>
                <a:spcPct val="114000"/>
              </a:lnSpc>
              <a:spcBef>
                <a:spcPts val="300"/>
              </a:spcBef>
              <a:defRPr sz="1400"/>
            </a:lvl3pPr>
            <a:lvl4pPr marL="1260000" indent="-180000">
              <a:lnSpc>
                <a:spcPct val="114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400"/>
            </a:lvl4pPr>
            <a:lvl5pPr marL="1620000">
              <a:lnSpc>
                <a:spcPct val="114000"/>
              </a:lnSpc>
              <a:spcBef>
                <a:spcPts val="300"/>
              </a:spcBef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8603" y="394332"/>
            <a:ext cx="10954788" cy="560941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04922BF-6CD6-44C9-4BAC-586DE27CAE0A}"/>
              </a:ext>
            </a:extLst>
          </p:cNvPr>
          <p:cNvSpPr/>
          <p:nvPr userDrawn="1"/>
        </p:nvSpPr>
        <p:spPr>
          <a:xfrm>
            <a:off x="618608" y="955273"/>
            <a:ext cx="10954789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1E61FCF-BF77-0A53-3827-EB2C0A7297DB}"/>
              </a:ext>
            </a:extLst>
          </p:cNvPr>
          <p:cNvGrpSpPr/>
          <p:nvPr userDrawn="1"/>
        </p:nvGrpSpPr>
        <p:grpSpPr>
          <a:xfrm>
            <a:off x="295276" y="470380"/>
            <a:ext cx="232312" cy="408844"/>
            <a:chOff x="457992" y="448105"/>
            <a:chExt cx="114045" cy="45339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AD0970D-D61F-971D-2032-8D80DD5A5E52}"/>
                </a:ext>
              </a:extLst>
            </p:cNvPr>
            <p:cNvSpPr/>
            <p:nvPr userDrawn="1"/>
          </p:nvSpPr>
          <p:spPr>
            <a:xfrm>
              <a:off x="457992" y="448105"/>
              <a:ext cx="71974" cy="45339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747EAD-0C0B-CA93-01FE-6C8153D9CD73}"/>
                </a:ext>
              </a:extLst>
            </p:cNvPr>
            <p:cNvSpPr/>
            <p:nvPr userDrawn="1"/>
          </p:nvSpPr>
          <p:spPr>
            <a:xfrm>
              <a:off x="500063" y="448105"/>
              <a:ext cx="71974" cy="45339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9FEDD41-82F5-C7E0-FD2A-2AA2931040BC}"/>
              </a:ext>
            </a:extLst>
          </p:cNvPr>
          <p:cNvSpPr/>
          <p:nvPr userDrawn="1"/>
        </p:nvSpPr>
        <p:spPr>
          <a:xfrm>
            <a:off x="11572052" y="955273"/>
            <a:ext cx="327054" cy="457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C9CE0F-C86D-E5A3-F8F4-55AB7F81EDF2}"/>
              </a:ext>
            </a:extLst>
          </p:cNvPr>
          <p:cNvSpPr/>
          <p:nvPr userDrawn="1"/>
        </p:nvSpPr>
        <p:spPr>
          <a:xfrm>
            <a:off x="11899106" y="955273"/>
            <a:ext cx="292894" cy="457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4161365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53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19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23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7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695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48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33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5204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766BB-52EA-42CA-AF5A-3886A16F0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09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48D775B1-D9BF-89C5-5C17-4E357E363CD6}"/>
              </a:ext>
            </a:extLst>
          </p:cNvPr>
          <p:cNvSpPr/>
          <p:nvPr userDrawn="1"/>
        </p:nvSpPr>
        <p:spPr>
          <a:xfrm>
            <a:off x="0" y="6361459"/>
            <a:ext cx="12192000" cy="357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7FF3A0-4346-7C38-E1C7-75C95AD99A47}"/>
              </a:ext>
            </a:extLst>
          </p:cNvPr>
          <p:cNvSpPr/>
          <p:nvPr userDrawn="1"/>
        </p:nvSpPr>
        <p:spPr>
          <a:xfrm flipH="1">
            <a:off x="-5" y="6600305"/>
            <a:ext cx="12192001" cy="1840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2A88FC-595C-E8CF-91F0-5EB9446521FE}"/>
              </a:ext>
            </a:extLst>
          </p:cNvPr>
          <p:cNvSpPr/>
          <p:nvPr userDrawn="1"/>
        </p:nvSpPr>
        <p:spPr>
          <a:xfrm flipH="1">
            <a:off x="-14" y="6718984"/>
            <a:ext cx="12200545" cy="144737"/>
          </a:xfrm>
          <a:prstGeom prst="rect">
            <a:avLst/>
          </a:prstGeom>
          <a:solidFill>
            <a:srgbClr val="1C46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2" name="사각형: 잘린 한쪽 모서리 11">
            <a:extLst>
              <a:ext uri="{FF2B5EF4-FFF2-40B4-BE49-F238E27FC236}">
                <a16:creationId xmlns:a16="http://schemas.microsoft.com/office/drawing/2014/main" id="{97593945-C82B-6C66-C532-55D02AB52120}"/>
              </a:ext>
            </a:extLst>
          </p:cNvPr>
          <p:cNvSpPr/>
          <p:nvPr userDrawn="1"/>
        </p:nvSpPr>
        <p:spPr>
          <a:xfrm flipH="1" flipV="1">
            <a:off x="11128374" y="6359566"/>
            <a:ext cx="1063617" cy="422908"/>
          </a:xfrm>
          <a:prstGeom prst="snip1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630" y="6279631"/>
            <a:ext cx="2743200" cy="2819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BCFEA-93FA-4A46-9DAA-86AA11A784A1}" type="datetimeFigureOut">
              <a:rPr lang="ko-KR" altLang="en-US" smtClean="0"/>
              <a:t>2024-10-24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595" y="6268698"/>
            <a:ext cx="4114800" cy="268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6643" y="6268699"/>
            <a:ext cx="2743200" cy="282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766BB-52EA-42CA-AF5A-3886A16F0BC4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14" name="대각선 줄무늬 13">
            <a:extLst>
              <a:ext uri="{FF2B5EF4-FFF2-40B4-BE49-F238E27FC236}">
                <a16:creationId xmlns:a16="http://schemas.microsoft.com/office/drawing/2014/main" id="{85BE5C8F-ED9E-B145-1CA5-696514B0B05B}"/>
              </a:ext>
            </a:extLst>
          </p:cNvPr>
          <p:cNvSpPr/>
          <p:nvPr userDrawn="1"/>
        </p:nvSpPr>
        <p:spPr>
          <a:xfrm flipV="1">
            <a:off x="-14" y="6268698"/>
            <a:ext cx="688644" cy="589297"/>
          </a:xfrm>
          <a:prstGeom prst="diagStripe">
            <a:avLst>
              <a:gd name="adj" fmla="val 0"/>
            </a:avLst>
          </a:prstGeom>
          <a:solidFill>
            <a:srgbClr val="1C46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C4307B3-9157-DF31-2B09-009A033966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96" t="59515" r="12698" b="30424"/>
          <a:stretch/>
        </p:blipFill>
        <p:spPr>
          <a:xfrm>
            <a:off x="10322901" y="117479"/>
            <a:ext cx="1745265" cy="24750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2070BF9-CA63-3094-DE6A-F46CA9A49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930" b="27112"/>
          <a:stretch/>
        </p:blipFill>
        <p:spPr>
          <a:xfrm>
            <a:off x="11353800" y="6345321"/>
            <a:ext cx="800708" cy="4229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630" y="365125"/>
            <a:ext cx="10665170" cy="64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630" y="1248496"/>
            <a:ext cx="10665170" cy="49284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마스터 텍스트 스타일을 편집하려면 클릭</a:t>
            </a:r>
          </a:p>
          <a:p>
            <a:pPr marL="685800" marR="0" lvl="1" indent="-228600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두 번째 수준</a:t>
            </a:r>
          </a:p>
          <a:p>
            <a:pPr marL="1143000" marR="0" lvl="2" indent="-228600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세 번째 수준</a:t>
            </a:r>
          </a:p>
          <a:p>
            <a:pPr marL="1600200" marR="0" lvl="3" indent="-228600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네 번째 수준</a:t>
            </a:r>
          </a:p>
          <a:p>
            <a:pPr marL="2057400" marR="0" lvl="4" indent="-228600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맑은 고딕"/>
                <a:cs typeface="+mn-cs"/>
              </a:rPr>
              <a:t>다섯 번째 수준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맑은 고딕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3447752-8FBC-A1C7-8D03-C583C466034F}"/>
              </a:ext>
            </a:extLst>
          </p:cNvPr>
          <p:cNvSpPr/>
          <p:nvPr userDrawn="1"/>
        </p:nvSpPr>
        <p:spPr>
          <a:xfrm>
            <a:off x="0" y="0"/>
            <a:ext cx="12191991" cy="4571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77034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0000" algn="l" defTabSz="914400" rtl="0" eaLnBrk="1" latinLnBrk="1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180000" algn="l" defTabSz="914400" rtl="0" eaLnBrk="1" latinLnBrk="1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000" indent="-180000" algn="l" defTabSz="914400" rtl="0" eaLnBrk="1" latinLnBrk="1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1" hangingPunct="1">
        <a:lnSpc>
          <a:spcPct val="125000"/>
        </a:lnSpc>
        <a:spcBef>
          <a:spcPts val="6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20000" indent="-180000" algn="l" defTabSz="914400" rtl="0" eaLnBrk="1" latinLnBrk="1" hangingPunct="1">
        <a:lnSpc>
          <a:spcPct val="125000"/>
        </a:lnSpc>
        <a:spcBef>
          <a:spcPts val="6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470F45-11FB-0815-BF6F-D3FA258227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Kriging Airfoil Design Optimizer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1603B3-DA2C-2644-C320-50A6FD443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1" y="3602037"/>
            <a:ext cx="10848974" cy="2133599"/>
          </a:xfrm>
        </p:spPr>
        <p:txBody>
          <a:bodyPr>
            <a:normAutofit/>
          </a:bodyPr>
          <a:lstStyle/>
          <a:p>
            <a:r>
              <a:rPr lang="en-US" altLang="ko-KR" b="1" dirty="0"/>
              <a:t>Program User</a:t>
            </a:r>
            <a:r>
              <a:rPr lang="ko-KR" altLang="en-US" b="1" dirty="0"/>
              <a:t> </a:t>
            </a:r>
            <a:r>
              <a:rPr lang="en-US" altLang="ko-KR" b="1" dirty="0"/>
              <a:t>Manual</a:t>
            </a:r>
          </a:p>
          <a:p>
            <a:r>
              <a:rPr lang="en-US" altLang="ko-KR" b="1" dirty="0"/>
              <a:t>Ver 0.0.1 (for High Lift Fixed Wing)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637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A632CD3-6F35-A72F-0B90-25BB20166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03" y="1245869"/>
            <a:ext cx="11354322" cy="4931094"/>
          </a:xfrm>
        </p:spPr>
        <p:txBody>
          <a:bodyPr>
            <a:normAutofit/>
          </a:bodyPr>
          <a:lstStyle/>
          <a:p>
            <a:r>
              <a:rPr lang="ko-KR" altLang="en-US" b="1" dirty="0"/>
              <a:t>프로그램 개요</a:t>
            </a:r>
            <a:endParaRPr lang="en-US" altLang="ko-KR" b="1" dirty="0"/>
          </a:p>
          <a:p>
            <a:pPr lvl="1"/>
            <a:r>
              <a:rPr lang="en-US" altLang="ko-KR" dirty="0"/>
              <a:t>Baseline </a:t>
            </a:r>
            <a:r>
              <a:rPr lang="ko-KR" altLang="en-US" dirty="0" err="1"/>
              <a:t>익형을</a:t>
            </a:r>
            <a:r>
              <a:rPr lang="ko-KR" altLang="en-US" dirty="0"/>
              <a:t> 변형하여 형상 제약조건으로부터 최대의 </a:t>
            </a:r>
            <a:r>
              <a:rPr lang="en-US" altLang="ko-KR" dirty="0"/>
              <a:t>L/D</a:t>
            </a:r>
            <a:r>
              <a:rPr lang="ko-KR" altLang="en-US" dirty="0"/>
              <a:t>를 찾아내는 디자인 도구</a:t>
            </a:r>
            <a:endParaRPr lang="en-US" altLang="ko-KR" dirty="0"/>
          </a:p>
          <a:p>
            <a:pPr lvl="1"/>
            <a:r>
              <a:rPr lang="en-US" altLang="ko-KR" dirty="0"/>
              <a:t>Kriging </a:t>
            </a:r>
            <a:r>
              <a:rPr lang="ko-KR" altLang="en-US" dirty="0"/>
              <a:t>대리모델을 이용해 비선형 최적화 수행</a:t>
            </a:r>
            <a:endParaRPr lang="en-US" altLang="ko-KR" dirty="0"/>
          </a:p>
          <a:p>
            <a:pPr lvl="1"/>
            <a:r>
              <a:rPr lang="en-US" altLang="ko-KR" dirty="0" err="1"/>
              <a:t>Xfoil</a:t>
            </a:r>
            <a:r>
              <a:rPr lang="ko-KR" altLang="en-US" dirty="0"/>
              <a:t>을 이용하여 기준 </a:t>
            </a:r>
            <a:r>
              <a:rPr lang="ko-KR" altLang="en-US" dirty="0" err="1"/>
              <a:t>익형을</a:t>
            </a:r>
            <a:r>
              <a:rPr lang="ko-KR" altLang="en-US" dirty="0"/>
              <a:t> 형상 제약조건에 따른 </a:t>
            </a:r>
            <a:r>
              <a:rPr lang="ko-KR" altLang="en-US" dirty="0" err="1"/>
              <a:t>설계익형으로</a:t>
            </a:r>
            <a:r>
              <a:rPr lang="ko-KR" altLang="en-US" dirty="0"/>
              <a:t> 변경</a:t>
            </a:r>
            <a:endParaRPr lang="en-US" altLang="ko-KR" dirty="0"/>
          </a:p>
          <a:p>
            <a:pPr lvl="1"/>
            <a:r>
              <a:rPr lang="en-US" altLang="ko-KR" dirty="0"/>
              <a:t>Baseline </a:t>
            </a:r>
            <a:r>
              <a:rPr lang="ko-KR" altLang="en-US" dirty="0" err="1"/>
              <a:t>익형과</a:t>
            </a:r>
            <a:r>
              <a:rPr lang="ko-KR" altLang="en-US" dirty="0"/>
              <a:t> 압력분포 특성이 유사한 </a:t>
            </a:r>
            <a:r>
              <a:rPr lang="ko-KR" altLang="en-US" dirty="0" err="1"/>
              <a:t>익형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/>
              <a:t>본 프로그램은 </a:t>
            </a:r>
            <a:r>
              <a:rPr lang="ko-KR" altLang="en-US" b="1" dirty="0" err="1"/>
              <a:t>고양력</a:t>
            </a:r>
            <a:r>
              <a:rPr lang="ko-KR" altLang="en-US" b="1" dirty="0"/>
              <a:t> 고정익 </a:t>
            </a:r>
            <a:r>
              <a:rPr lang="ko-KR" altLang="en-US" b="1" dirty="0" err="1"/>
              <a:t>익형</a:t>
            </a:r>
            <a:r>
              <a:rPr lang="ko-KR" altLang="en-US" b="1" dirty="0"/>
              <a:t> 설계용으로 제작됨</a:t>
            </a:r>
            <a:endParaRPr lang="en-US" altLang="ko-KR" b="1" dirty="0"/>
          </a:p>
          <a:p>
            <a:pPr lvl="1"/>
            <a:r>
              <a:rPr lang="ko-KR" altLang="en-US" b="1" dirty="0"/>
              <a:t>프로펠러용으로 현재 제약조건 및 </a:t>
            </a:r>
            <a:r>
              <a:rPr lang="en-US" altLang="ko-KR" b="1" dirty="0"/>
              <a:t>Design Parameter </a:t>
            </a:r>
            <a:r>
              <a:rPr lang="ko-KR" altLang="en-US" b="1" dirty="0" err="1"/>
              <a:t>변경중</a:t>
            </a:r>
            <a:endParaRPr lang="en-US" altLang="ko-KR" b="1" dirty="0"/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7684627-0629-659B-75AC-AEDF2362F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맑은 고딕"/>
              </a:rPr>
              <a:t>1. 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6812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C471-B572-1D9C-0D36-1E0B9960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4EEB1D4-C45B-252E-44EC-EDCEE7335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03" y="1245869"/>
            <a:ext cx="5944122" cy="4931094"/>
          </a:xfrm>
        </p:spPr>
        <p:txBody>
          <a:bodyPr>
            <a:normAutofit/>
          </a:bodyPr>
          <a:lstStyle/>
          <a:p>
            <a:r>
              <a:rPr lang="ko-KR" altLang="en-US" b="1" dirty="0"/>
              <a:t>프로그램 구성</a:t>
            </a:r>
            <a:endParaRPr lang="en-US" altLang="ko-KR" b="1" dirty="0"/>
          </a:p>
          <a:p>
            <a:pPr lvl="1"/>
            <a:r>
              <a:rPr lang="en-US" altLang="ko-KR" dirty="0"/>
              <a:t>5</a:t>
            </a:r>
            <a:r>
              <a:rPr lang="ko-KR" altLang="en-US" dirty="0"/>
              <a:t> </a:t>
            </a:r>
            <a:r>
              <a:rPr lang="en-US" altLang="ko-KR" dirty="0"/>
              <a:t>main M file</a:t>
            </a:r>
          </a:p>
          <a:p>
            <a:pPr lvl="1"/>
            <a:r>
              <a:rPr lang="en-US" altLang="ko-KR" dirty="0"/>
              <a:t>7 Sub M Function</a:t>
            </a:r>
          </a:p>
          <a:p>
            <a:pPr lvl="1"/>
            <a:r>
              <a:rPr lang="en-US" altLang="ko-KR" dirty="0"/>
              <a:t>1 </a:t>
            </a:r>
            <a:r>
              <a:rPr lang="en-US" altLang="ko-KR" dirty="0" err="1"/>
              <a:t>Xfoil</a:t>
            </a:r>
            <a:r>
              <a:rPr lang="en-US" altLang="ko-KR" dirty="0"/>
              <a:t> Program Set</a:t>
            </a:r>
          </a:p>
          <a:p>
            <a:pPr lvl="1"/>
            <a:r>
              <a:rPr lang="en-US" altLang="ko-KR" dirty="0"/>
              <a:t>3 Pre-Defined Folder 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8A363AD-5DEF-3756-5BC4-146FE090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맑은 고딕"/>
              </a:rPr>
              <a:t>1. Introduction</a:t>
            </a:r>
            <a:endParaRPr lang="ko-KR" altLang="en-US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E7BD9F7F-D281-0491-3B42-5B7C17B54B41}"/>
              </a:ext>
            </a:extLst>
          </p:cNvPr>
          <p:cNvGrpSpPr/>
          <p:nvPr/>
        </p:nvGrpSpPr>
        <p:grpSpPr>
          <a:xfrm>
            <a:off x="5636323" y="2524315"/>
            <a:ext cx="5937068" cy="3652648"/>
            <a:chOff x="5636324" y="2938710"/>
            <a:chExt cx="5937068" cy="365264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3608052-FD37-DC72-014D-5EA871DF47C9}"/>
                </a:ext>
              </a:extLst>
            </p:cNvPr>
            <p:cNvSpPr txBox="1"/>
            <p:nvPr/>
          </p:nvSpPr>
          <p:spPr>
            <a:xfrm>
              <a:off x="5636325" y="2938710"/>
              <a:ext cx="5937067" cy="3585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b="1" dirty="0" err="1"/>
                <a:t>Main.m</a:t>
              </a:r>
              <a:endParaRPr lang="en-US" altLang="ko-KR" sz="1200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08D0D9A-A5B2-1F0C-AFC2-DA3F1228D1C2}"/>
                </a:ext>
              </a:extLst>
            </p:cNvPr>
            <p:cNvSpPr txBox="1"/>
            <p:nvPr/>
          </p:nvSpPr>
          <p:spPr>
            <a:xfrm>
              <a:off x="9669376" y="3387823"/>
              <a:ext cx="1904015" cy="3585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 anchor="ctr">
              <a:noAutofit/>
            </a:bodyPr>
            <a:lstStyle/>
            <a:p>
              <a:r>
                <a:rPr lang="en-US" altLang="ko-KR" sz="1200" b="1" dirty="0" err="1"/>
                <a:t>FindObjectValue.m</a:t>
              </a:r>
              <a:endParaRPr lang="en-US" altLang="ko-KR" sz="12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CF3543-3879-3E35-179E-074261932EEB}"/>
                </a:ext>
              </a:extLst>
            </p:cNvPr>
            <p:cNvSpPr txBox="1"/>
            <p:nvPr/>
          </p:nvSpPr>
          <p:spPr>
            <a:xfrm>
              <a:off x="9669376" y="3836936"/>
              <a:ext cx="1904015" cy="3585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 anchor="ctr">
              <a:noAutofit/>
            </a:bodyPr>
            <a:lstStyle/>
            <a:p>
              <a:r>
                <a:rPr lang="en-US" altLang="ko-KR" sz="1200" b="1" dirty="0" err="1"/>
                <a:t>DesignAirfoil.m</a:t>
              </a:r>
              <a:endParaRPr lang="en-US" altLang="ko-KR" sz="12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FC4B8A8-B25F-AC7D-5486-F7ADACBCECFC}"/>
                </a:ext>
              </a:extLst>
            </p:cNvPr>
            <p:cNvSpPr txBox="1"/>
            <p:nvPr/>
          </p:nvSpPr>
          <p:spPr>
            <a:xfrm>
              <a:off x="9669376" y="4286049"/>
              <a:ext cx="1904015" cy="3585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 anchor="ctr">
              <a:noAutofit/>
            </a:bodyPr>
            <a:lstStyle/>
            <a:p>
              <a:r>
                <a:rPr lang="en-US" altLang="ko-KR" sz="1200" b="1" dirty="0" err="1"/>
                <a:t>LHSample.m</a:t>
              </a:r>
              <a:endParaRPr lang="en-US" altLang="ko-KR" sz="12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2D74F40-7EBD-71A0-2E94-D8A006F29FA4}"/>
                </a:ext>
              </a:extLst>
            </p:cNvPr>
            <p:cNvSpPr txBox="1"/>
            <p:nvPr/>
          </p:nvSpPr>
          <p:spPr>
            <a:xfrm>
              <a:off x="9669376" y="4735162"/>
              <a:ext cx="1904015" cy="35854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 anchor="ctr">
              <a:noAutofit/>
            </a:bodyPr>
            <a:lstStyle/>
            <a:p>
              <a:r>
                <a:rPr lang="en-US" altLang="ko-KR" sz="1200" b="1" dirty="0" err="1"/>
                <a:t>Optimizer.m</a:t>
              </a:r>
              <a:endParaRPr lang="en-US" altLang="ko-KR" sz="1200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21B275-4879-E00D-6338-197431F283B9}"/>
                </a:ext>
              </a:extLst>
            </p:cNvPr>
            <p:cNvSpPr txBox="1"/>
            <p:nvPr/>
          </p:nvSpPr>
          <p:spPr>
            <a:xfrm>
              <a:off x="5646717" y="3412463"/>
              <a:ext cx="3910149" cy="358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just"/>
              <a:r>
                <a:rPr lang="en-US" altLang="ko-KR" sz="1200" b="1" dirty="0">
                  <a:latin typeface="+mj-lt"/>
                </a:rPr>
                <a:t>1) Sampling by Latin Hypercube Sampling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81931A-A8D6-F529-E16F-C2A4CA33B163}"/>
                </a:ext>
              </a:extLst>
            </p:cNvPr>
            <p:cNvSpPr txBox="1"/>
            <p:nvPr/>
          </p:nvSpPr>
          <p:spPr>
            <a:xfrm>
              <a:off x="5646717" y="3861576"/>
              <a:ext cx="3910149" cy="358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just"/>
              <a:r>
                <a:rPr lang="en-US" altLang="ko-KR" sz="1200" b="1" i="0" dirty="0">
                  <a:effectLst/>
                  <a:latin typeface="+mj-lt"/>
                </a:rPr>
                <a:t>2) Airfoil Design by Sample Point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059301-7FBA-C4F6-1D81-16882F03591B}"/>
                </a:ext>
              </a:extLst>
            </p:cNvPr>
            <p:cNvSpPr txBox="1"/>
            <p:nvPr/>
          </p:nvSpPr>
          <p:spPr>
            <a:xfrm>
              <a:off x="5646717" y="4310689"/>
              <a:ext cx="3910149" cy="358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just"/>
              <a:r>
                <a:rPr lang="en-US" altLang="ko-KR" sz="1200" b="1" i="0" dirty="0">
                  <a:effectLst/>
                  <a:latin typeface="+mj-lt"/>
                </a:rPr>
                <a:t>3) Calculate Data about XFLR5 OUTPUT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099E24-7F02-D8A9-EFB7-90995D0C36CD}"/>
                </a:ext>
              </a:extLst>
            </p:cNvPr>
            <p:cNvSpPr txBox="1"/>
            <p:nvPr/>
          </p:nvSpPr>
          <p:spPr>
            <a:xfrm>
              <a:off x="5646717" y="4759802"/>
              <a:ext cx="3910149" cy="3585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just"/>
              <a:r>
                <a:rPr lang="en-US" altLang="ko-KR" sz="1200" b="1" i="0" dirty="0">
                  <a:effectLst/>
                  <a:latin typeface="+mj-lt"/>
                </a:rPr>
                <a:t>4) Optimizing and Export Airfoil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A5D458-5BA2-E7FA-3E7C-9830D768D6E9}"/>
                </a:ext>
              </a:extLst>
            </p:cNvPr>
            <p:cNvSpPr txBox="1"/>
            <p:nvPr/>
          </p:nvSpPr>
          <p:spPr>
            <a:xfrm>
              <a:off x="9669377" y="5208915"/>
              <a:ext cx="1904015" cy="3585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dirty="0" err="1"/>
                <a:t>constraintA.m</a:t>
              </a:r>
              <a:endParaRPr lang="en-US" altLang="ko-KR" sz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8BE8F9E-EDF2-F881-D733-29F7239299EF}"/>
                </a:ext>
              </a:extLst>
            </p:cNvPr>
            <p:cNvSpPr txBox="1"/>
            <p:nvPr/>
          </p:nvSpPr>
          <p:spPr>
            <a:xfrm>
              <a:off x="9669377" y="5717190"/>
              <a:ext cx="1904015" cy="3585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dirty="0" err="1"/>
                <a:t>constraintB.m</a:t>
              </a:r>
              <a:endParaRPr lang="en-US" altLang="ko-KR" sz="12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CD4D60-32C3-6FFB-714D-1E122815EC88}"/>
                </a:ext>
              </a:extLst>
            </p:cNvPr>
            <p:cNvSpPr txBox="1"/>
            <p:nvPr/>
          </p:nvSpPr>
          <p:spPr>
            <a:xfrm>
              <a:off x="5636325" y="5726187"/>
              <a:ext cx="1904015" cy="3585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dirty="0"/>
                <a:t>regpoly2.m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636B0D8-866E-CCCC-9EF6-F70D5CE128D3}"/>
                </a:ext>
              </a:extLst>
            </p:cNvPr>
            <p:cNvSpPr txBox="1"/>
            <p:nvPr/>
          </p:nvSpPr>
          <p:spPr>
            <a:xfrm>
              <a:off x="9669375" y="6197707"/>
              <a:ext cx="1904015" cy="35854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dirty="0" err="1"/>
                <a:t>xfoil.m</a:t>
              </a:r>
              <a:endParaRPr lang="en-US" altLang="ko-KR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1AA83B3-072E-4253-6622-D7CB008B855B}"/>
                </a:ext>
              </a:extLst>
            </p:cNvPr>
            <p:cNvSpPr txBox="1"/>
            <p:nvPr/>
          </p:nvSpPr>
          <p:spPr>
            <a:xfrm>
              <a:off x="5636326" y="5219563"/>
              <a:ext cx="1904015" cy="3585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dirty="0" err="1"/>
                <a:t>dacefit.m</a:t>
              </a:r>
              <a:endParaRPr lang="en-US" altLang="ko-KR" sz="12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1C202DF-1659-197E-5C73-005F2802B6AE}"/>
                </a:ext>
              </a:extLst>
            </p:cNvPr>
            <p:cNvSpPr txBox="1"/>
            <p:nvPr/>
          </p:nvSpPr>
          <p:spPr>
            <a:xfrm>
              <a:off x="7652852" y="5208915"/>
              <a:ext cx="1904015" cy="3585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dirty="0" err="1"/>
                <a:t>predictor.m</a:t>
              </a:r>
              <a:endParaRPr lang="en-US" altLang="ko-KR" sz="12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C359DD-4B6B-EDF7-162D-4376EF2972CE}"/>
                </a:ext>
              </a:extLst>
            </p:cNvPr>
            <p:cNvSpPr txBox="1"/>
            <p:nvPr/>
          </p:nvSpPr>
          <p:spPr>
            <a:xfrm>
              <a:off x="7652852" y="5717190"/>
              <a:ext cx="1904015" cy="35854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dirty="0" err="1"/>
                <a:t>corrgauss.m</a:t>
              </a:r>
              <a:endParaRPr lang="en-US" altLang="ko-KR" sz="12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D0DE4CE-D158-1E2A-1105-E69B73B3B42C}"/>
                </a:ext>
              </a:extLst>
            </p:cNvPr>
            <p:cNvSpPr txBox="1"/>
            <p:nvPr/>
          </p:nvSpPr>
          <p:spPr>
            <a:xfrm>
              <a:off x="5636324" y="6232811"/>
              <a:ext cx="3920542" cy="35854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1200" dirty="0" err="1"/>
                <a:t>Xfoil</a:t>
              </a:r>
              <a:r>
                <a:rPr lang="en-US" altLang="ko-KR" sz="1200" dirty="0"/>
                <a:t> </a:t>
              </a:r>
              <a:r>
                <a:rPr lang="en-US" altLang="ko-KR" sz="1200" b="1" dirty="0"/>
                <a:t>EXE</a:t>
              </a:r>
              <a:r>
                <a:rPr lang="en-US" altLang="ko-KR" sz="1200" dirty="0"/>
                <a:t> Family</a:t>
              </a: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1DD54C3A-147A-4425-F959-AE8D64942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08" y="3139524"/>
            <a:ext cx="2305372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0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32F2E-47CE-CF5D-9C38-D0E55CAFF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9B7D5AD7-B702-0388-A9D4-6E9BDE35E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03" y="1245869"/>
            <a:ext cx="9649348" cy="4931094"/>
          </a:xfrm>
        </p:spPr>
        <p:txBody>
          <a:bodyPr>
            <a:normAutofit/>
          </a:bodyPr>
          <a:lstStyle/>
          <a:p>
            <a:r>
              <a:rPr lang="en-US" altLang="ko-KR" b="1" dirty="0"/>
              <a:t>General</a:t>
            </a:r>
            <a:r>
              <a:rPr lang="ko-KR" altLang="en-US" b="1" dirty="0"/>
              <a:t> </a:t>
            </a:r>
            <a:r>
              <a:rPr lang="en-US" altLang="ko-KR" b="1" dirty="0"/>
              <a:t>Optimizing</a:t>
            </a:r>
            <a:r>
              <a:rPr lang="ko-KR" altLang="en-US" b="1" dirty="0"/>
              <a:t> </a:t>
            </a:r>
            <a:r>
              <a:rPr lang="en-US" altLang="ko-KR" b="1" dirty="0"/>
              <a:t>Process</a:t>
            </a:r>
          </a:p>
          <a:p>
            <a:pPr marL="702900" lvl="1" indent="-342900">
              <a:buAutoNum type="arabicParenR"/>
            </a:pPr>
            <a:r>
              <a:rPr lang="en-US" altLang="ko-KR" dirty="0"/>
              <a:t>Pre – Setting		: Preparing Baseline Geometry</a:t>
            </a:r>
          </a:p>
          <a:p>
            <a:pPr marL="702900" lvl="1" indent="-342900">
              <a:buAutoNum type="arabicParenR"/>
            </a:pPr>
            <a:r>
              <a:rPr lang="en-US" altLang="ko-KR" dirty="0"/>
              <a:t>Program Start 		:</a:t>
            </a:r>
            <a:r>
              <a:rPr lang="en-US" altLang="ko-KR" b="1" dirty="0"/>
              <a:t> Main .m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702900" lvl="1" indent="-342900">
              <a:buAutoNum type="arabicParenR"/>
            </a:pPr>
            <a:r>
              <a:rPr lang="en-US" altLang="ko-KR" dirty="0"/>
              <a:t>Sampling 			: </a:t>
            </a:r>
            <a:r>
              <a:rPr lang="en-US" altLang="ko-KR" b="1" dirty="0"/>
              <a:t>LHS Sampling Mode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702900" lvl="1" indent="-342900">
              <a:buAutoNum type="arabicParenR"/>
            </a:pPr>
            <a:r>
              <a:rPr lang="en-US" altLang="ko-KR" dirty="0"/>
              <a:t>Create Sample Airfoil 		: </a:t>
            </a:r>
            <a:r>
              <a:rPr lang="en-US" altLang="ko-KR" b="1" dirty="0"/>
              <a:t>Airfoil Design By Sample Point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702900" lvl="1" indent="-342900">
              <a:buAutoNum type="arabicParenR"/>
            </a:pPr>
            <a:r>
              <a:rPr lang="en-US" altLang="ko-KR" dirty="0"/>
              <a:t>Create Aerodynamic Data 	: </a:t>
            </a:r>
            <a:r>
              <a:rPr lang="en-US" altLang="ko-KR" b="1" dirty="0"/>
              <a:t>XFLR5 Batch Analysis</a:t>
            </a:r>
          </a:p>
          <a:p>
            <a:pPr marL="702900" lvl="1" indent="-342900">
              <a:buAutoNum type="arabicParenR"/>
            </a:pPr>
            <a:r>
              <a:rPr lang="en-US" altLang="ko-KR" dirty="0"/>
              <a:t>Save Calculated Polar</a:t>
            </a:r>
          </a:p>
          <a:p>
            <a:pPr marL="702900" lvl="1" indent="-342900">
              <a:buAutoNum type="arabicParenR"/>
            </a:pPr>
            <a:r>
              <a:rPr lang="en-US" altLang="ko-KR" dirty="0"/>
              <a:t>Data Processing 		: </a:t>
            </a:r>
            <a:r>
              <a:rPr lang="en-US" altLang="ko-KR" b="1" dirty="0"/>
              <a:t>Calculate Data About XFLR5 OUTPUT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702900" lvl="1" indent="-342900">
              <a:buAutoNum type="arabicParenR"/>
            </a:pPr>
            <a:r>
              <a:rPr lang="en-US" altLang="ko-KR" dirty="0"/>
              <a:t>Optimizing 			: </a:t>
            </a:r>
            <a:r>
              <a:rPr lang="en-US" altLang="ko-KR" b="1" dirty="0"/>
              <a:t>Optimizing and Export Airfoil </a:t>
            </a:r>
            <a:r>
              <a:rPr lang="ko-KR" altLang="en-US" dirty="0"/>
              <a:t>실행</a:t>
            </a:r>
            <a:endParaRPr lang="en-US" altLang="ko-KR" dirty="0"/>
          </a:p>
          <a:p>
            <a:pPr marL="702900" lvl="1" indent="-342900">
              <a:buAutoNum type="arabicParenR"/>
            </a:pPr>
            <a:r>
              <a:rPr lang="en-US" altLang="ko-KR" dirty="0"/>
              <a:t>Validation 			: XFLR5 Analysis the Optimized Airfoil</a:t>
            </a:r>
          </a:p>
          <a:p>
            <a:pPr marL="702900" lvl="1" indent="-342900">
              <a:buAutoNum type="arabicParenR"/>
            </a:pPr>
            <a:r>
              <a:rPr lang="en-US" altLang="ko-KR" dirty="0"/>
              <a:t>Return to Sampling If Kriging output CL not Matching XFLR5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73424C8-8C28-4F71-CD09-ABAAC2EA5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맑은 고딕"/>
              </a:rPr>
              <a:t>1. Introduction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0D1B09E-44E7-AA36-E347-A614F8578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880" y="4344238"/>
            <a:ext cx="3169640" cy="183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269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D57ED85-91B4-7729-D1C8-2E8A06683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8600" indent="0">
              <a:buNone/>
            </a:pPr>
            <a:r>
              <a:rPr lang="en-US" altLang="ko-KR" b="1" dirty="0"/>
              <a:t>1) Pre – Setting</a:t>
            </a:r>
          </a:p>
          <a:p>
            <a:pPr lvl="1"/>
            <a:r>
              <a:rPr lang="ko-KR" altLang="en-US" b="1" dirty="0"/>
              <a:t>최적화를 위한 </a:t>
            </a:r>
            <a:r>
              <a:rPr lang="ko-KR" altLang="en-US" b="1" dirty="0" err="1"/>
              <a:t>기준익형을</a:t>
            </a:r>
            <a:r>
              <a:rPr lang="ko-KR" altLang="en-US" b="1" dirty="0"/>
              <a:t> 프로그램이 있는 위치에 저장</a:t>
            </a:r>
            <a:endParaRPr lang="en-US" altLang="ko-KR" b="1" dirty="0"/>
          </a:p>
          <a:p>
            <a:pPr lvl="1"/>
            <a:r>
              <a:rPr lang="en-US" altLang="ko-KR" dirty="0"/>
              <a:t>XFLR5 </a:t>
            </a:r>
            <a:r>
              <a:rPr lang="ko-KR" altLang="en-US" dirty="0"/>
              <a:t>등의 </a:t>
            </a:r>
            <a:r>
              <a:rPr lang="en-US" altLang="ko-KR" dirty="0"/>
              <a:t>Design Tool</a:t>
            </a:r>
            <a:r>
              <a:rPr lang="ko-KR" altLang="en-US" dirty="0"/>
              <a:t>을 이용하여 </a:t>
            </a:r>
            <a:r>
              <a:rPr lang="en-US" altLang="ko-KR" dirty="0"/>
              <a:t>Global Smoothing + 200</a:t>
            </a:r>
            <a:r>
              <a:rPr lang="ko-KR" altLang="en-US" dirty="0"/>
              <a:t>개 이상의</a:t>
            </a:r>
            <a:r>
              <a:rPr lang="en-US" altLang="ko-KR" dirty="0"/>
              <a:t> Point</a:t>
            </a:r>
            <a:r>
              <a:rPr lang="ko-KR" altLang="en-US" dirty="0"/>
              <a:t>를 가진 </a:t>
            </a:r>
            <a:r>
              <a:rPr lang="ko-KR" altLang="en-US" dirty="0" err="1"/>
              <a:t>익형</a:t>
            </a:r>
            <a:r>
              <a:rPr lang="ko-KR" altLang="en-US" dirty="0"/>
              <a:t> 준비</a:t>
            </a:r>
            <a:endParaRPr lang="en-US" altLang="ko-KR" dirty="0"/>
          </a:p>
          <a:p>
            <a:pPr lvl="1"/>
            <a:r>
              <a:rPr lang="en-US" altLang="ko-KR" dirty="0"/>
              <a:t>Selig Data Format (.</a:t>
            </a:r>
            <a:r>
              <a:rPr lang="en-US" altLang="ko-KR" dirty="0" err="1"/>
              <a:t>dat</a:t>
            </a:r>
            <a:r>
              <a:rPr lang="en-US" altLang="ko-KR" dirty="0"/>
              <a:t>)</a:t>
            </a:r>
            <a:r>
              <a:rPr lang="ko-KR" altLang="en-US" dirty="0"/>
              <a:t>으로 수행</a:t>
            </a:r>
            <a:endParaRPr lang="en-US" altLang="ko-KR" dirty="0"/>
          </a:p>
          <a:p>
            <a:pPr lvl="1"/>
            <a:r>
              <a:rPr lang="en-US" altLang="ko-KR" dirty="0" err="1"/>
              <a:t>Main.m</a:t>
            </a:r>
            <a:r>
              <a:rPr lang="ko-KR" altLang="en-US" dirty="0"/>
              <a:t>이 있는 위치에 저장</a:t>
            </a:r>
            <a:endParaRPr lang="en-US" altLang="ko-KR" dirty="0"/>
          </a:p>
          <a:p>
            <a:pPr lvl="1"/>
            <a:r>
              <a:rPr lang="ko-KR" altLang="en-US" dirty="0" err="1"/>
              <a:t>익형의</a:t>
            </a:r>
            <a:r>
              <a:rPr lang="ko-KR" altLang="en-US" dirty="0"/>
              <a:t> 형상학적 유사성이 유지되며 </a:t>
            </a:r>
            <a:r>
              <a:rPr lang="ko-KR" altLang="en-US" dirty="0" err="1"/>
              <a:t>압력구배가</a:t>
            </a:r>
            <a:r>
              <a:rPr lang="ko-KR" altLang="en-US" dirty="0"/>
              <a:t> 유사하므로 목표 최적 성능과 유사한 기능을 갖는 </a:t>
            </a:r>
            <a:r>
              <a:rPr lang="ko-KR" altLang="en-US" dirty="0" err="1"/>
              <a:t>익형선정</a:t>
            </a:r>
            <a:endParaRPr lang="en-US" altLang="ko-KR" dirty="0"/>
          </a:p>
          <a:p>
            <a:pPr lvl="2"/>
            <a:r>
              <a:rPr lang="en-US" altLang="ko-KR" dirty="0"/>
              <a:t>Ex ) </a:t>
            </a:r>
            <a:r>
              <a:rPr lang="ko-KR" altLang="en-US" dirty="0" err="1"/>
              <a:t>저레이놀즈</a:t>
            </a:r>
            <a:r>
              <a:rPr lang="ko-KR" altLang="en-US" dirty="0"/>
              <a:t> </a:t>
            </a:r>
            <a:r>
              <a:rPr lang="ko-KR" altLang="en-US" dirty="0" err="1"/>
              <a:t>고양력</a:t>
            </a:r>
            <a:r>
              <a:rPr lang="ko-KR" altLang="en-US" dirty="0"/>
              <a:t> 설계</a:t>
            </a:r>
            <a:r>
              <a:rPr lang="en-US" altLang="ko-KR" dirty="0"/>
              <a:t>: </a:t>
            </a:r>
            <a:r>
              <a:rPr lang="ko-KR" altLang="en-US" dirty="0" err="1"/>
              <a:t>저레이놀즈</a:t>
            </a:r>
            <a:r>
              <a:rPr lang="ko-KR" altLang="en-US" dirty="0"/>
              <a:t> 성능이 좋은 </a:t>
            </a:r>
            <a:r>
              <a:rPr lang="en-US" altLang="ko-KR" dirty="0"/>
              <a:t>SD7062 SD7032 </a:t>
            </a:r>
            <a:r>
              <a:rPr lang="ko-KR" altLang="en-US" dirty="0" err="1"/>
              <a:t>익형으로</a:t>
            </a:r>
            <a:r>
              <a:rPr lang="ko-KR" altLang="en-US" dirty="0"/>
              <a:t> 최적화시 결과가 좋음</a:t>
            </a:r>
            <a:endParaRPr lang="en-US" altLang="ko-KR" dirty="0"/>
          </a:p>
          <a:p>
            <a:endParaRPr lang="en-US" altLang="ko-KR" dirty="0"/>
          </a:p>
          <a:p>
            <a:pPr marL="48600" indent="0">
              <a:buNone/>
            </a:pPr>
            <a:r>
              <a:rPr lang="en-US" altLang="ko-KR" b="1" dirty="0"/>
              <a:t>2) Program Start </a:t>
            </a:r>
          </a:p>
          <a:p>
            <a:pPr lvl="1"/>
            <a:r>
              <a:rPr lang="en-US" altLang="ko-KR" b="1" dirty="0"/>
              <a:t>MATLAB</a:t>
            </a:r>
            <a:r>
              <a:rPr lang="ko-KR" altLang="en-US" b="1" dirty="0"/>
              <a:t>을 이용하여 </a:t>
            </a:r>
            <a:r>
              <a:rPr lang="en-US" altLang="ko-KR" b="1" dirty="0" err="1"/>
              <a:t>Main.m</a:t>
            </a:r>
            <a:r>
              <a:rPr lang="en-US" altLang="ko-KR" b="1" dirty="0"/>
              <a:t> </a:t>
            </a:r>
            <a:r>
              <a:rPr lang="ko-KR" altLang="en-US" b="1" dirty="0"/>
              <a:t>실행</a:t>
            </a:r>
            <a:endParaRPr lang="en-US" altLang="ko-KR" b="1" dirty="0"/>
          </a:p>
          <a:p>
            <a:pPr lvl="1"/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6E4FC04-604D-D44B-A1A9-76DF0F1C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Optimizing Process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F9B60B-0E8B-8542-E4B3-45445D8A6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080" y="4039438"/>
            <a:ext cx="3169640" cy="183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4250-F359-1F3D-FB11-FCA8541BB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3462722-B49A-4106-B8A9-F0595B626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8600" indent="0">
              <a:buNone/>
            </a:pPr>
            <a:r>
              <a:rPr lang="en-US" altLang="ko-KR" b="1" dirty="0"/>
              <a:t>3) Sampling</a:t>
            </a:r>
          </a:p>
          <a:p>
            <a:pPr lvl="1"/>
            <a:r>
              <a:rPr lang="en-US" altLang="ko-KR" b="1" dirty="0"/>
              <a:t>Sampling by Latin Hypercube Sampling </a:t>
            </a:r>
            <a:r>
              <a:rPr lang="ko-KR" altLang="en-US" b="1" dirty="0"/>
              <a:t>모드 실행  </a:t>
            </a:r>
            <a:endParaRPr lang="en-US" altLang="ko-KR" b="1" dirty="0"/>
          </a:p>
          <a:p>
            <a:pPr lvl="1"/>
            <a:r>
              <a:rPr lang="ko-KR" altLang="en-US" b="1" dirty="0"/>
              <a:t>샘플 개수와 </a:t>
            </a:r>
            <a:r>
              <a:rPr lang="en-US" altLang="ko-KR" b="1" dirty="0"/>
              <a:t>% </a:t>
            </a:r>
            <a:r>
              <a:rPr lang="ko-KR" altLang="en-US" b="1" dirty="0"/>
              <a:t>단위의 초기 </a:t>
            </a:r>
            <a:r>
              <a:rPr lang="ko-KR" altLang="en-US" b="1" dirty="0" err="1"/>
              <a:t>익형</a:t>
            </a:r>
            <a:r>
              <a:rPr lang="ko-KR" altLang="en-US" b="1" dirty="0"/>
              <a:t> 데이터를 입력</a:t>
            </a:r>
            <a:r>
              <a:rPr lang="en-US" altLang="ko-KR" b="1" dirty="0"/>
              <a:t>.</a:t>
            </a:r>
          </a:p>
          <a:p>
            <a:pPr lvl="1"/>
            <a:r>
              <a:rPr lang="ko-KR" altLang="en-US" b="1" dirty="0"/>
              <a:t>입력한 데이터를 기반으로 </a:t>
            </a:r>
            <a:r>
              <a:rPr lang="en-US" altLang="ko-KR" b="1" dirty="0"/>
              <a:t>Sample Range </a:t>
            </a:r>
            <a:r>
              <a:rPr lang="ko-KR" altLang="en-US" b="1" dirty="0"/>
              <a:t>결정 후 </a:t>
            </a:r>
            <a:r>
              <a:rPr lang="en-US" altLang="ko-KR" b="1" dirty="0"/>
              <a:t>LHS Sampling </a:t>
            </a:r>
            <a:r>
              <a:rPr lang="ko-KR" altLang="en-US" b="1" dirty="0"/>
              <a:t>수행</a:t>
            </a:r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7B3109-57DF-31E5-47AB-CE0B40E3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Optimizing Process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7BC0437-7BB7-E87C-8EB5-A778B5C64199}"/>
              </a:ext>
            </a:extLst>
          </p:cNvPr>
          <p:cNvGrpSpPr/>
          <p:nvPr/>
        </p:nvGrpSpPr>
        <p:grpSpPr>
          <a:xfrm>
            <a:off x="8216269" y="1473200"/>
            <a:ext cx="3169640" cy="1832725"/>
            <a:chOff x="8603260" y="1155298"/>
            <a:chExt cx="3169640" cy="183272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1000259-134F-8CFA-AE9C-4E6DD893C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03260" y="1155298"/>
              <a:ext cx="3169640" cy="1832725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ECF06B-4581-D0F6-EFD5-56F9D7F67BF8}"/>
                </a:ext>
              </a:extLst>
            </p:cNvPr>
            <p:cNvSpPr/>
            <p:nvPr/>
          </p:nvSpPr>
          <p:spPr>
            <a:xfrm>
              <a:off x="8686800" y="1995404"/>
              <a:ext cx="3000375" cy="142875"/>
            </a:xfrm>
            <a:prstGeom prst="rect">
              <a:avLst/>
            </a:prstGeom>
            <a:solidFill>
              <a:srgbClr val="FF0000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ABA408E2-87B3-4119-FF47-0FAB84D15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99" y="3123591"/>
            <a:ext cx="2217489" cy="1089823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6310F3C5-2637-D598-E1E5-40712EC63092}"/>
              </a:ext>
            </a:extLst>
          </p:cNvPr>
          <p:cNvGrpSpPr/>
          <p:nvPr/>
        </p:nvGrpSpPr>
        <p:grpSpPr>
          <a:xfrm>
            <a:off x="1184518" y="4205941"/>
            <a:ext cx="3046854" cy="2224747"/>
            <a:chOff x="4025749" y="3507045"/>
            <a:chExt cx="4172532" cy="304669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A60F8F5-3775-179C-14F4-85A069879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25749" y="3507045"/>
              <a:ext cx="3924300" cy="647700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D2A6227-8C31-2C74-203E-C87D95ACF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9667"/>
            <a:stretch/>
          </p:blipFill>
          <p:spPr>
            <a:xfrm>
              <a:off x="4025749" y="4072496"/>
              <a:ext cx="4029637" cy="636797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FDFCC54-FEDA-7095-8A41-B1817F3294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25749" y="4617695"/>
              <a:ext cx="3962953" cy="724001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3CB50C2-FA6A-4E03-B011-846545EF6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25749" y="5181180"/>
              <a:ext cx="4172532" cy="685896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F92527-FBE1-7B93-7EF3-65D48695E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494"/>
            <a:stretch/>
          </p:blipFill>
          <p:spPr>
            <a:xfrm>
              <a:off x="4025749" y="5886895"/>
              <a:ext cx="3896027" cy="666843"/>
            </a:xfrm>
            <a:prstGeom prst="rect">
              <a:avLst/>
            </a:prstGeom>
          </p:spPr>
        </p:pic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78ADFBFD-BBF4-98FE-2F0F-804DF99734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3205" y="3084443"/>
            <a:ext cx="3572180" cy="178001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6730378-4262-8813-EBFC-137CF4B57D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3205" y="5054407"/>
            <a:ext cx="1524213" cy="1495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62B613F-9946-40D4-DEC7-2AC62A9225CD}"/>
              </a:ext>
            </a:extLst>
          </p:cNvPr>
          <p:cNvSpPr txBox="1"/>
          <p:nvPr/>
        </p:nvSpPr>
        <p:spPr>
          <a:xfrm>
            <a:off x="717724" y="2832622"/>
            <a:ext cx="12282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(1) </a:t>
            </a:r>
            <a:r>
              <a:rPr lang="ko-KR" altLang="en-US" sz="1200" b="1" dirty="0"/>
              <a:t>데이터 입력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B8333F-CB0D-4F5C-ACC9-DE50A4B4ECD1}"/>
              </a:ext>
            </a:extLst>
          </p:cNvPr>
          <p:cNvSpPr txBox="1"/>
          <p:nvPr/>
        </p:nvSpPr>
        <p:spPr>
          <a:xfrm>
            <a:off x="4136286" y="2830718"/>
            <a:ext cx="2281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(2) </a:t>
            </a:r>
            <a:r>
              <a:rPr lang="ko-KR" altLang="en-US" sz="1200" b="1" dirty="0"/>
              <a:t>샘플링 데이터 출력 및 확인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321D01-5C4D-1609-91BD-1DBAC43B5EC5}"/>
              </a:ext>
            </a:extLst>
          </p:cNvPr>
          <p:cNvSpPr txBox="1"/>
          <p:nvPr/>
        </p:nvSpPr>
        <p:spPr>
          <a:xfrm>
            <a:off x="6390294" y="3543386"/>
            <a:ext cx="14414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Sample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Data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Plot</a:t>
            </a:r>
            <a:endParaRPr lang="ko-KR" altLang="en-US" sz="12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63CA78-8EA9-ACB1-CE67-7D33B6FECC28}"/>
              </a:ext>
            </a:extLst>
          </p:cNvPr>
          <p:cNvSpPr txBox="1"/>
          <p:nvPr/>
        </p:nvSpPr>
        <p:spPr>
          <a:xfrm>
            <a:off x="4993683" y="5128235"/>
            <a:ext cx="17572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/>
              <a:t>Sampledata.mat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파일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09FC2DF-2EB4-4463-D13A-F4B6CBE6C25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4844" y="3847709"/>
            <a:ext cx="4773827" cy="27023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6451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4250-F359-1F3D-FB11-FCA8541BB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3462722-B49A-4106-B8A9-F0595B626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8600" indent="0">
              <a:buNone/>
            </a:pPr>
            <a:r>
              <a:rPr lang="en-US" altLang="ko-KR" b="1" dirty="0"/>
              <a:t>4) Create Sample Airfoil 		</a:t>
            </a:r>
          </a:p>
          <a:p>
            <a:pPr lvl="1"/>
            <a:r>
              <a:rPr lang="en-US" altLang="ko-KR" b="1" dirty="0"/>
              <a:t>Airfoil Design by Sample Point </a:t>
            </a:r>
            <a:r>
              <a:rPr lang="ko-KR" altLang="en-US" b="1" dirty="0"/>
              <a:t>모드 실행  </a:t>
            </a:r>
            <a:endParaRPr lang="en-US" altLang="ko-KR" b="1" dirty="0"/>
          </a:p>
          <a:p>
            <a:pPr lvl="1"/>
            <a:r>
              <a:rPr lang="ko-KR" altLang="en-US" b="1" dirty="0"/>
              <a:t>직전에 생성한 </a:t>
            </a:r>
            <a:r>
              <a:rPr lang="en-US" altLang="ko-KR" b="1" dirty="0" err="1"/>
              <a:t>sampledata.mat</a:t>
            </a:r>
            <a:r>
              <a:rPr lang="en-US" altLang="ko-KR" b="1" dirty="0"/>
              <a:t> File</a:t>
            </a:r>
            <a:r>
              <a:rPr lang="ko-KR" altLang="en-US" b="1" dirty="0"/>
              <a:t>을 이용</a:t>
            </a:r>
            <a:endParaRPr lang="en-US" altLang="ko-KR" b="1" dirty="0"/>
          </a:p>
          <a:p>
            <a:pPr lvl="1"/>
            <a:r>
              <a:rPr lang="en-US" altLang="ko-KR" b="1" dirty="0" err="1"/>
              <a:t>ModifiedAirfoil</a:t>
            </a:r>
            <a:r>
              <a:rPr lang="en-US" altLang="ko-KR" b="1" dirty="0"/>
              <a:t> </a:t>
            </a:r>
            <a:r>
              <a:rPr lang="ko-KR" altLang="en-US" b="1" dirty="0"/>
              <a:t>폴더에 </a:t>
            </a:r>
            <a:r>
              <a:rPr lang="en-US" altLang="ko-KR" b="1" dirty="0"/>
              <a:t>Case </a:t>
            </a:r>
            <a:r>
              <a:rPr lang="ko-KR" altLang="en-US" b="1" dirty="0" err="1"/>
              <a:t>익형</a:t>
            </a:r>
            <a:r>
              <a:rPr lang="ko-KR" altLang="en-US" b="1" dirty="0"/>
              <a:t> 저장 </a:t>
            </a:r>
            <a:endParaRPr lang="en-US" altLang="ko-KR" b="1" dirty="0"/>
          </a:p>
          <a:p>
            <a:pPr lvl="2"/>
            <a:r>
              <a:rPr lang="ko-KR" altLang="en-US" b="1" dirty="0"/>
              <a:t>주의 </a:t>
            </a:r>
            <a:r>
              <a:rPr lang="en-US" altLang="ko-KR" b="1" dirty="0"/>
              <a:t>: </a:t>
            </a:r>
            <a:r>
              <a:rPr lang="ko-KR" altLang="en-US" b="1" dirty="0"/>
              <a:t>기존에 </a:t>
            </a:r>
            <a:r>
              <a:rPr lang="ko-KR" altLang="en-US" b="1" dirty="0" err="1"/>
              <a:t>저장되어있던</a:t>
            </a:r>
            <a:r>
              <a:rPr lang="ko-KR" altLang="en-US" b="1" dirty="0"/>
              <a:t> </a:t>
            </a:r>
            <a:r>
              <a:rPr lang="en-US" altLang="ko-KR" b="1" dirty="0"/>
              <a:t>Case </a:t>
            </a:r>
            <a:r>
              <a:rPr lang="ko-KR" altLang="en-US" b="1" dirty="0" err="1"/>
              <a:t>익형을</a:t>
            </a:r>
            <a:r>
              <a:rPr lang="ko-KR" altLang="en-US" b="1" dirty="0"/>
              <a:t> 모두 지우고 시작하니 </a:t>
            </a:r>
            <a:r>
              <a:rPr lang="ko-KR" altLang="en-US" b="1" dirty="0" err="1"/>
              <a:t>조심할것</a:t>
            </a:r>
            <a:r>
              <a:rPr lang="en-US" altLang="ko-KR" b="1" dirty="0"/>
              <a:t>!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7B3109-57DF-31E5-47AB-CE0B40E3B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Optimizing Process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000259-134F-8CFA-AE9C-4E6DD893C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260" y="1155298"/>
            <a:ext cx="3169640" cy="183272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AECF06B-4581-D0F6-EFD5-56F9D7F67BF8}"/>
              </a:ext>
            </a:extLst>
          </p:cNvPr>
          <p:cNvSpPr/>
          <p:nvPr/>
        </p:nvSpPr>
        <p:spPr>
          <a:xfrm>
            <a:off x="8687892" y="2142980"/>
            <a:ext cx="3000375" cy="142875"/>
          </a:xfrm>
          <a:prstGeom prst="rect">
            <a:avLst/>
          </a:prstGeom>
          <a:solidFill>
            <a:srgbClr val="FF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37CD4E-67D4-65BE-856E-4B10CE100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r="2109" b="9853"/>
          <a:stretch/>
        </p:blipFill>
        <p:spPr>
          <a:xfrm>
            <a:off x="5632976" y="3996509"/>
            <a:ext cx="4120074" cy="220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19A43F6-8CC6-B3BD-BD80-A83C0506E7C4}"/>
              </a:ext>
            </a:extLst>
          </p:cNvPr>
          <p:cNvSpPr txBox="1"/>
          <p:nvPr/>
        </p:nvSpPr>
        <p:spPr>
          <a:xfrm>
            <a:off x="743124" y="2870154"/>
            <a:ext cx="1881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(1) Baseline Airfoil </a:t>
            </a:r>
            <a:r>
              <a:rPr lang="ko-KR" altLang="en-US" sz="1200" b="1" dirty="0"/>
              <a:t>선택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4A8FC90-2B38-FFBD-7ACD-3E0D39C6B7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288637"/>
            <a:ext cx="4575179" cy="262470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193F0CE-E493-7C7A-2E8F-8F9961DFC575}"/>
              </a:ext>
            </a:extLst>
          </p:cNvPr>
          <p:cNvSpPr txBox="1"/>
          <p:nvPr/>
        </p:nvSpPr>
        <p:spPr>
          <a:xfrm>
            <a:off x="5680925" y="2870154"/>
            <a:ext cx="26164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(2) </a:t>
            </a:r>
            <a:r>
              <a:rPr lang="en-US" altLang="ko-KR" sz="1200" b="1" dirty="0" err="1"/>
              <a:t>Xfoil</a:t>
            </a:r>
            <a:r>
              <a:rPr lang="en-US" altLang="ko-KR" sz="1200" b="1" dirty="0"/>
              <a:t> </a:t>
            </a:r>
            <a:r>
              <a:rPr lang="ko-KR" altLang="en-US" sz="1200" b="1" dirty="0"/>
              <a:t>자동실행 및 </a:t>
            </a:r>
            <a:r>
              <a:rPr lang="ko-KR" altLang="en-US" sz="1200" b="1" dirty="0" err="1"/>
              <a:t>기준익형</a:t>
            </a:r>
            <a:r>
              <a:rPr lang="ko-KR" altLang="en-US" sz="1200" b="1" dirty="0"/>
              <a:t> 생성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D7F4884-59BD-50FB-8C7E-4D178B293A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925" y="3367285"/>
            <a:ext cx="3324689" cy="65731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200FCA9-4E7F-5B3F-B24A-0AF953AA62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2168" y="3223994"/>
            <a:ext cx="1620736" cy="31753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9441BB7-C2EE-EF30-24CD-D64A29E603B5}"/>
              </a:ext>
            </a:extLst>
          </p:cNvPr>
          <p:cNvSpPr txBox="1"/>
          <p:nvPr/>
        </p:nvSpPr>
        <p:spPr>
          <a:xfrm>
            <a:off x="9176919" y="2946995"/>
            <a:ext cx="1468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(2) </a:t>
            </a:r>
            <a:r>
              <a:rPr lang="ko-KR" altLang="en-US" sz="1200" b="1" dirty="0" err="1"/>
              <a:t>익형</a:t>
            </a:r>
            <a:r>
              <a:rPr lang="ko-KR" altLang="en-US" sz="1200" b="1" dirty="0"/>
              <a:t> 생성 확인</a:t>
            </a:r>
          </a:p>
        </p:txBody>
      </p:sp>
    </p:spTree>
    <p:extLst>
      <p:ext uri="{BB962C8B-B14F-4D97-AF65-F5344CB8AC3E}">
        <p14:creationId xmlns:p14="http://schemas.microsoft.com/office/powerpoint/2010/main" val="1357959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2D53-2D65-2DE8-FD35-9352E9AD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49E8A24-F045-7492-7A6E-ABB65FBA9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8600" indent="0">
              <a:buNone/>
            </a:pPr>
            <a:r>
              <a:rPr lang="en-US" altLang="ko-KR" b="1" dirty="0"/>
              <a:t>5) Create Aerodynamic Data 		</a:t>
            </a:r>
          </a:p>
          <a:p>
            <a:pPr lvl="1"/>
            <a:r>
              <a:rPr lang="en-US" altLang="ko-KR" b="1" dirty="0"/>
              <a:t>XFLR5 </a:t>
            </a:r>
            <a:r>
              <a:rPr lang="ko-KR" altLang="en-US" b="1" dirty="0"/>
              <a:t>실행</a:t>
            </a:r>
            <a:endParaRPr lang="en-US" altLang="ko-KR" b="1" dirty="0"/>
          </a:p>
          <a:p>
            <a:pPr lvl="1"/>
            <a:r>
              <a:rPr lang="en-US" altLang="ko-KR" b="1" dirty="0" err="1"/>
              <a:t>ModifideAirfoil</a:t>
            </a:r>
            <a:r>
              <a:rPr lang="ko-KR" altLang="en-US" b="1" dirty="0"/>
              <a:t>에 있는 </a:t>
            </a:r>
            <a:r>
              <a:rPr lang="en-US" altLang="ko-KR" b="1" dirty="0"/>
              <a:t>Case </a:t>
            </a:r>
            <a:r>
              <a:rPr lang="ko-KR" altLang="en-US" b="1" dirty="0" err="1"/>
              <a:t>익형을</a:t>
            </a:r>
            <a:r>
              <a:rPr lang="ko-KR" altLang="en-US" b="1" dirty="0"/>
              <a:t> 이용하여 </a:t>
            </a:r>
            <a:r>
              <a:rPr lang="en-US" altLang="ko-KR" b="1" dirty="0"/>
              <a:t>Batch Analysis </a:t>
            </a:r>
            <a:r>
              <a:rPr lang="ko-KR" altLang="en-US" b="1" dirty="0"/>
              <a:t>수행</a:t>
            </a:r>
            <a:endParaRPr lang="en-US" altLang="ko-KR" b="1" dirty="0"/>
          </a:p>
          <a:p>
            <a:pPr lvl="1"/>
            <a:r>
              <a:rPr lang="ko-KR" altLang="en-US" b="1" dirty="0"/>
              <a:t>최적화 하고자 하는 </a:t>
            </a:r>
            <a:r>
              <a:rPr lang="ko-KR" altLang="en-US" b="1" dirty="0" err="1"/>
              <a:t>레이놀즈수에</a:t>
            </a:r>
            <a:r>
              <a:rPr lang="ko-KR" altLang="en-US" b="1" dirty="0"/>
              <a:t> 맞추어서  </a:t>
            </a:r>
            <a:r>
              <a:rPr lang="en-US" altLang="ko-KR" b="1" dirty="0"/>
              <a:t>AOA </a:t>
            </a:r>
            <a:r>
              <a:rPr lang="ko-KR" altLang="en-US" b="1" dirty="0"/>
              <a:t>스캔 </a:t>
            </a:r>
            <a:r>
              <a:rPr lang="en-US" altLang="ko-KR" b="1" dirty="0"/>
              <a:t>(-5deg to 15deg, delta</a:t>
            </a:r>
            <a:r>
              <a:rPr lang="ko-KR" altLang="en-US" b="1" dirty="0"/>
              <a:t>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1deg )</a:t>
            </a:r>
          </a:p>
          <a:p>
            <a:pPr lvl="1"/>
            <a:r>
              <a:rPr lang="ko-KR" altLang="en-US" b="1" dirty="0"/>
              <a:t>성층권 프로펠러이므로 </a:t>
            </a:r>
            <a:r>
              <a:rPr lang="en-US" altLang="ko-KR" b="1" dirty="0"/>
              <a:t>e=9,</a:t>
            </a:r>
            <a:r>
              <a:rPr lang="ko-KR" altLang="en-US" b="1" dirty="0"/>
              <a:t> </a:t>
            </a:r>
            <a:r>
              <a:rPr lang="en-US" altLang="ko-KR" b="1" dirty="0"/>
              <a:t>Re=75,000, Mach=0.1</a:t>
            </a:r>
            <a:r>
              <a:rPr lang="ko-KR" altLang="en-US" b="1" dirty="0"/>
              <a:t>로 수행</a:t>
            </a:r>
            <a:endParaRPr lang="en-US" altLang="ko-KR" b="1" dirty="0"/>
          </a:p>
          <a:p>
            <a:pPr lvl="1"/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F781A5-1B8D-4718-B601-89D9E8AB0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Optimizing Process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742FF-4FA9-8061-6B32-F6FD440D5257}"/>
              </a:ext>
            </a:extLst>
          </p:cNvPr>
          <p:cNvSpPr txBox="1"/>
          <p:nvPr/>
        </p:nvSpPr>
        <p:spPr>
          <a:xfrm>
            <a:off x="407585" y="3180126"/>
            <a:ext cx="1615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(1) Case Airfoil </a:t>
            </a:r>
            <a:r>
              <a:rPr lang="ko-KR" altLang="en-US" sz="1200" b="1" dirty="0"/>
              <a:t>선택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CD6B6D-9478-EDC6-2647-2B03D9CE15E6}"/>
              </a:ext>
            </a:extLst>
          </p:cNvPr>
          <p:cNvSpPr txBox="1"/>
          <p:nvPr/>
        </p:nvSpPr>
        <p:spPr>
          <a:xfrm>
            <a:off x="2728964" y="3180126"/>
            <a:ext cx="2315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(2) Direct Analysis Mode </a:t>
            </a:r>
            <a:r>
              <a:rPr lang="ko-KR" altLang="en-US" sz="1200" b="1" dirty="0"/>
              <a:t>진입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BB354F-C3B9-7A90-FF5E-7D90627E35AB}"/>
              </a:ext>
            </a:extLst>
          </p:cNvPr>
          <p:cNvSpPr txBox="1"/>
          <p:nvPr/>
        </p:nvSpPr>
        <p:spPr>
          <a:xfrm>
            <a:off x="8717030" y="3180126"/>
            <a:ext cx="1425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(4) </a:t>
            </a:r>
            <a:r>
              <a:rPr lang="ko-KR" altLang="en-US" sz="1200" b="1" dirty="0"/>
              <a:t>해석 결과 확인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245FCAF-C5E2-ACB5-90DC-9AA26E37C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24" y="3539374"/>
            <a:ext cx="2042897" cy="158047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82D9F23-B974-8D7B-08A4-05FBD40DB3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55846" b="55259"/>
          <a:stretch/>
        </p:blipFill>
        <p:spPr>
          <a:xfrm>
            <a:off x="2754892" y="3539374"/>
            <a:ext cx="2513457" cy="170834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3789B333-0DC0-318C-BA1F-A5B6A76D39FD}"/>
              </a:ext>
            </a:extLst>
          </p:cNvPr>
          <p:cNvGrpSpPr/>
          <p:nvPr/>
        </p:nvGrpSpPr>
        <p:grpSpPr>
          <a:xfrm>
            <a:off x="5683421" y="3539374"/>
            <a:ext cx="2892235" cy="2717603"/>
            <a:chOff x="6454965" y="3257525"/>
            <a:chExt cx="3412168" cy="3206143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8D2E19B-D314-DD0C-DAC0-0CA91B2E4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54965" y="4376451"/>
              <a:ext cx="3000375" cy="2087217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7592E16-3019-160F-4209-721720DA6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54965" y="3257525"/>
              <a:ext cx="3412168" cy="1085394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9EE1A3F-E22F-8E5C-E686-64307EA21941}"/>
              </a:ext>
            </a:extLst>
          </p:cNvPr>
          <p:cNvSpPr txBox="1"/>
          <p:nvPr/>
        </p:nvSpPr>
        <p:spPr>
          <a:xfrm>
            <a:off x="5650662" y="3180126"/>
            <a:ext cx="19053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(3) Batch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Analysis </a:t>
            </a:r>
            <a:r>
              <a:rPr lang="ko-KR" altLang="en-US" sz="1200" b="1" dirty="0"/>
              <a:t>수행 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4D72643-E046-EFE4-6B3D-9379BA8104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9993" y="3539374"/>
            <a:ext cx="3004855" cy="17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797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21C1-2551-C9E1-6DBF-BBA69C85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146AA4C-B986-7F72-A293-65E6F0B5B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8600" indent="0">
              <a:buNone/>
            </a:pPr>
            <a:r>
              <a:rPr lang="en-US" altLang="ko-KR" b="1" dirty="0"/>
              <a:t>6) Save Calculated Polar	 ****</a:t>
            </a:r>
            <a:r>
              <a:rPr lang="ko-KR" altLang="en-US" b="1" dirty="0"/>
              <a:t>중요</a:t>
            </a:r>
            <a:r>
              <a:rPr lang="en-US" altLang="ko-KR" b="1" dirty="0"/>
              <a:t>*****	</a:t>
            </a:r>
          </a:p>
          <a:p>
            <a:pPr lvl="1"/>
            <a:r>
              <a:rPr lang="en-US" altLang="ko-KR" b="1" dirty="0"/>
              <a:t>Polars</a:t>
            </a:r>
            <a:r>
              <a:rPr lang="ko-KR" altLang="en-US" b="1" dirty="0"/>
              <a:t> 메뉴의 </a:t>
            </a:r>
            <a:r>
              <a:rPr lang="en-US" altLang="ko-KR" b="1" dirty="0"/>
              <a:t>Export All , to Text Format </a:t>
            </a:r>
            <a:r>
              <a:rPr lang="ko-KR" altLang="en-US" b="1" dirty="0"/>
              <a:t>을 선택</a:t>
            </a:r>
            <a:endParaRPr lang="en-US" altLang="ko-KR" b="1" dirty="0"/>
          </a:p>
          <a:p>
            <a:pPr lvl="1"/>
            <a:r>
              <a:rPr lang="ko-KR" altLang="en-US" b="1" dirty="0" err="1">
                <a:solidFill>
                  <a:srgbClr val="C00000"/>
                </a:solidFill>
              </a:rPr>
              <a:t>상위폴더에</a:t>
            </a:r>
            <a:r>
              <a:rPr lang="ko-KR" altLang="en-US" b="1" dirty="0">
                <a:solidFill>
                  <a:srgbClr val="C00000"/>
                </a:solidFill>
              </a:rPr>
              <a:t> 있는 </a:t>
            </a:r>
            <a:r>
              <a:rPr lang="en-US" altLang="ko-KR" b="1" dirty="0">
                <a:solidFill>
                  <a:srgbClr val="C00000"/>
                </a:solidFill>
              </a:rPr>
              <a:t>XFLR5 DATA </a:t>
            </a:r>
            <a:r>
              <a:rPr lang="ko-KR" altLang="en-US" b="1" dirty="0">
                <a:solidFill>
                  <a:srgbClr val="C00000"/>
                </a:solidFill>
              </a:rPr>
              <a:t>폴더로 들어가서 폴더 선택</a:t>
            </a:r>
            <a:r>
              <a:rPr lang="en-US" altLang="ko-KR" b="1" dirty="0">
                <a:solidFill>
                  <a:srgbClr val="C00000"/>
                </a:solidFill>
              </a:rPr>
              <a:t>!</a:t>
            </a:r>
          </a:p>
          <a:p>
            <a:pPr lvl="1"/>
            <a:r>
              <a:rPr lang="ko-KR" altLang="en-US" b="1" dirty="0"/>
              <a:t>저장 후 꼭 </a:t>
            </a:r>
            <a:r>
              <a:rPr lang="en-US" altLang="ko-KR" b="1" dirty="0"/>
              <a:t>txt </a:t>
            </a:r>
            <a:r>
              <a:rPr lang="ko-KR" altLang="en-US" b="1" dirty="0"/>
              <a:t>파일로 저장되었는지 확인</a:t>
            </a:r>
            <a:endParaRPr lang="en-US" altLang="ko-KR" b="1" dirty="0"/>
          </a:p>
          <a:p>
            <a:pPr lvl="1"/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만약 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</a:rPr>
              <a:t>txt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파일로 저장이 안되었다면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</a:rPr>
              <a:t> XFLR5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의 기능적 버그임</a:t>
            </a:r>
            <a:br>
              <a:rPr lang="en-US" altLang="ko-KR" b="1" dirty="0"/>
            </a:br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-&gt; 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한가지 </a:t>
            </a:r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Case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에 대해 </a:t>
            </a:r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txt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로 </a:t>
            </a:r>
            <a:r>
              <a:rPr lang="ko-KR" altLang="en-US" sz="1400" b="1" dirty="0" err="1">
                <a:solidFill>
                  <a:schemeClr val="accent1">
                    <a:lumMod val="75000"/>
                  </a:schemeClr>
                </a:solidFill>
              </a:rPr>
              <a:t>다른데에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 저장 해보고 지운 뒤 위의 절차 다시 수행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EF03D93-F692-3D3C-EDD8-5F19AAAC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Optimizing Process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D0D2D3-C2EF-45D2-772B-7C0986D1C6EE}"/>
              </a:ext>
            </a:extLst>
          </p:cNvPr>
          <p:cNvSpPr txBox="1"/>
          <p:nvPr/>
        </p:nvSpPr>
        <p:spPr>
          <a:xfrm>
            <a:off x="618603" y="3443838"/>
            <a:ext cx="2219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1) Export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All To Text Format</a:t>
            </a:r>
            <a:endParaRPr lang="ko-KR" altLang="en-US" sz="12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5E6C6E9-4BC1-7654-DA83-60CEC13A3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03" y="3853934"/>
            <a:ext cx="3115110" cy="19814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7701733-A207-A634-E127-F96D57191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583" y="3568325"/>
            <a:ext cx="3594347" cy="274829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00B7141-25E3-57E5-0CB8-763DB2855F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7" t="334" r="51560" b="84516"/>
          <a:stretch/>
        </p:blipFill>
        <p:spPr>
          <a:xfrm>
            <a:off x="5617552" y="4104584"/>
            <a:ext cx="3226647" cy="821634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1B6CD8-3203-2C04-BDB0-8A32460E2DEC}"/>
              </a:ext>
            </a:extLst>
          </p:cNvPr>
          <p:cNvSpPr txBox="1"/>
          <p:nvPr/>
        </p:nvSpPr>
        <p:spPr>
          <a:xfrm>
            <a:off x="5903787" y="4966057"/>
            <a:ext cx="2326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C00000"/>
                </a:solidFill>
              </a:rPr>
              <a:t>Change Directory!! 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64C86F4-229C-2353-111E-3EC3CE476740}"/>
              </a:ext>
            </a:extLst>
          </p:cNvPr>
          <p:cNvGrpSpPr/>
          <p:nvPr/>
        </p:nvGrpSpPr>
        <p:grpSpPr>
          <a:xfrm>
            <a:off x="7772400" y="1130797"/>
            <a:ext cx="4076700" cy="1990566"/>
            <a:chOff x="7810500" y="1051403"/>
            <a:chExt cx="4470400" cy="2182801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F38B30B-3AA0-4072-7AE6-A6D3A027CCCC}"/>
                </a:ext>
              </a:extLst>
            </p:cNvPr>
            <p:cNvGrpSpPr/>
            <p:nvPr/>
          </p:nvGrpSpPr>
          <p:grpSpPr>
            <a:xfrm>
              <a:off x="8011114" y="1229427"/>
              <a:ext cx="4080435" cy="1776470"/>
              <a:chOff x="7706314" y="1315471"/>
              <a:chExt cx="4080435" cy="1776470"/>
            </a:xfrm>
          </p:grpSpPr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16A3B4B2-991E-0AFD-FC95-2DC3B78220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6314" y="1315471"/>
                <a:ext cx="2446171" cy="1776470"/>
              </a:xfrm>
              <a:prstGeom prst="rect">
                <a:avLst/>
              </a:prstGeom>
            </p:spPr>
          </p:pic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B178D872-F017-97A3-3AA2-E5872CD938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719536" y="1414057"/>
                <a:ext cx="2067213" cy="962159"/>
              </a:xfrm>
              <a:prstGeom prst="rect">
                <a:avLst/>
              </a:prstGeom>
            </p:spPr>
          </p:pic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C47662E-0DEE-31F1-626F-B4F52A2A0400}"/>
                </a:ext>
              </a:extLst>
            </p:cNvPr>
            <p:cNvSpPr/>
            <p:nvPr/>
          </p:nvSpPr>
          <p:spPr>
            <a:xfrm>
              <a:off x="7810500" y="1051403"/>
              <a:ext cx="4470400" cy="2182801"/>
            </a:xfrm>
            <a:prstGeom prst="rect">
              <a:avLst/>
            </a:prstGeom>
            <a:noFill/>
            <a:ln w="38100">
              <a:solidFill>
                <a:srgbClr val="1B439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67EE88-6AF3-EC41-8C1B-6C824D0058BA}"/>
                </a:ext>
              </a:extLst>
            </p:cNvPr>
            <p:cNvSpPr txBox="1"/>
            <p:nvPr/>
          </p:nvSpPr>
          <p:spPr>
            <a:xfrm>
              <a:off x="9757261" y="2580768"/>
              <a:ext cx="228940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B439C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</a:rPr>
                <a:t>Txt</a:t>
              </a:r>
              <a:r>
                <a:rPr lang="ko-KR" altLang="en-US" sz="1200" b="1" dirty="0">
                  <a:solidFill>
                    <a:schemeClr val="accent1">
                      <a:lumMod val="75000"/>
                    </a:schemeClr>
                  </a:solidFill>
                </a:rPr>
                <a:t> 파일로 저장이 </a:t>
              </a:r>
              <a:r>
                <a:rPr lang="ko-KR" altLang="en-US" sz="1200" b="1" dirty="0" err="1">
                  <a:solidFill>
                    <a:schemeClr val="accent1">
                      <a:lumMod val="75000"/>
                    </a:schemeClr>
                  </a:solidFill>
                </a:rPr>
                <a:t>안되었을시</a:t>
              </a:r>
              <a:r>
                <a:rPr lang="en-US" altLang="ko-KR" sz="1200" b="1" dirty="0">
                  <a:solidFill>
                    <a:schemeClr val="accent1">
                      <a:lumMod val="75000"/>
                    </a:schemeClr>
                  </a:solidFill>
                </a:rPr>
                <a:t>!</a:t>
              </a:r>
              <a:endParaRPr lang="ko-KR" altLang="en-US" sz="1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pic>
        <p:nvPicPr>
          <p:cNvPr id="29" name="그림 28">
            <a:extLst>
              <a:ext uri="{FF2B5EF4-FFF2-40B4-BE49-F238E27FC236}">
                <a16:creationId xmlns:a16="http://schemas.microsoft.com/office/drawing/2014/main" id="{09E3DFDC-ED2A-D078-E23B-0B637FAC98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6735" y="4194912"/>
            <a:ext cx="1717065" cy="234894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EAA9BDD-E6D2-273A-20AF-A1547786246E}"/>
              </a:ext>
            </a:extLst>
          </p:cNvPr>
          <p:cNvSpPr txBox="1"/>
          <p:nvPr/>
        </p:nvSpPr>
        <p:spPr>
          <a:xfrm>
            <a:off x="9347157" y="3720837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생성된 확장자 꼭 확인</a:t>
            </a:r>
            <a:r>
              <a:rPr lang="en-US" altLang="ko-KR" b="1" dirty="0">
                <a:solidFill>
                  <a:srgbClr val="C00000"/>
                </a:solidFill>
              </a:rPr>
              <a:t>!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188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21C1-2551-C9E1-6DBF-BBA69C85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146AA4C-B986-7F72-A293-65E6F0B5B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987" y="1238948"/>
            <a:ext cx="10735197" cy="4931094"/>
          </a:xfrm>
        </p:spPr>
        <p:txBody>
          <a:bodyPr/>
          <a:lstStyle/>
          <a:p>
            <a:pPr marL="48600" indent="0">
              <a:buNone/>
            </a:pPr>
            <a:r>
              <a:rPr lang="en-US" altLang="ko-KR" b="1" dirty="0"/>
              <a:t>7) Data Processing </a:t>
            </a:r>
          </a:p>
          <a:p>
            <a:pPr lvl="1"/>
            <a:r>
              <a:rPr lang="en-US" altLang="ko-KR" b="1" dirty="0"/>
              <a:t>Calculate Data about XFLR5 OUTPUT </a:t>
            </a:r>
            <a:r>
              <a:rPr lang="ko-KR" altLang="en-US" b="1" dirty="0"/>
              <a:t>메뉴 실행</a:t>
            </a:r>
            <a:endParaRPr lang="en-US" altLang="ko-KR" b="1" dirty="0"/>
          </a:p>
          <a:p>
            <a:pPr lvl="1"/>
            <a:r>
              <a:rPr lang="ko-KR" altLang="en-US" dirty="0"/>
              <a:t>자동으로 샘플점의 개수만큼 수행</a:t>
            </a:r>
            <a:endParaRPr lang="en-US" altLang="ko-KR" dirty="0"/>
          </a:p>
          <a:p>
            <a:pPr lvl="1"/>
            <a:r>
              <a:rPr lang="en-US" altLang="ko-KR" dirty="0"/>
              <a:t>Sample</a:t>
            </a:r>
            <a:r>
              <a:rPr lang="ko-KR" altLang="en-US" dirty="0"/>
              <a:t>점과 각 </a:t>
            </a:r>
            <a:r>
              <a:rPr lang="en-US" altLang="ko-KR" dirty="0"/>
              <a:t>Sample</a:t>
            </a:r>
            <a:r>
              <a:rPr lang="ko-KR" altLang="en-US" dirty="0"/>
              <a:t>의 </a:t>
            </a:r>
            <a:r>
              <a:rPr lang="ko-KR" altLang="en-US" dirty="0" err="1"/>
              <a:t>목적값을</a:t>
            </a:r>
            <a:r>
              <a:rPr lang="ko-KR" altLang="en-US" dirty="0"/>
              <a:t> 그래프로 플롯</a:t>
            </a:r>
            <a:endParaRPr lang="en-US" altLang="ko-KR" dirty="0"/>
          </a:p>
          <a:p>
            <a:pPr lvl="1"/>
            <a:r>
              <a:rPr lang="en-US" altLang="ko-KR" dirty="0"/>
              <a:t>XFLR5CalculatedData.mat </a:t>
            </a:r>
            <a:r>
              <a:rPr lang="ko-KR" altLang="en-US" dirty="0"/>
              <a:t>파일 생성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EF03D93-F692-3D3C-EDD8-5F19AAAC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Optimizing Process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07A6234-B23F-3D37-A54D-DE902B4441EA}"/>
              </a:ext>
            </a:extLst>
          </p:cNvPr>
          <p:cNvGrpSpPr/>
          <p:nvPr/>
        </p:nvGrpSpPr>
        <p:grpSpPr>
          <a:xfrm>
            <a:off x="8216269" y="1473200"/>
            <a:ext cx="3169640" cy="1832725"/>
            <a:chOff x="8603260" y="1155298"/>
            <a:chExt cx="3169640" cy="183272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8D549C7-E4E6-EADE-2950-755EF13E1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03260" y="1155298"/>
              <a:ext cx="3169640" cy="183272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D7A2182-6E03-50FA-10FB-3530672DAAE3}"/>
                </a:ext>
              </a:extLst>
            </p:cNvPr>
            <p:cNvSpPr/>
            <p:nvPr/>
          </p:nvSpPr>
          <p:spPr>
            <a:xfrm>
              <a:off x="8686800" y="2312904"/>
              <a:ext cx="3000375" cy="142875"/>
            </a:xfrm>
            <a:prstGeom prst="rect">
              <a:avLst/>
            </a:prstGeom>
            <a:solidFill>
              <a:srgbClr val="FF0000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FBCF7A36-F724-B85A-BE75-100E4725C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16" y="2988854"/>
            <a:ext cx="5871058" cy="145563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9DEF180-6A46-6F6D-A9CD-04707EFFA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3138" y="3774170"/>
            <a:ext cx="2672136" cy="239587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62BF92A-A4F1-58F4-09D0-2E64587AD1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648" y="4815186"/>
            <a:ext cx="2133898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97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21C1-2551-C9E1-6DBF-BBA69C85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146AA4C-B986-7F72-A293-65E6F0B5B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987" y="1238948"/>
            <a:ext cx="10735197" cy="4931094"/>
          </a:xfrm>
        </p:spPr>
        <p:txBody>
          <a:bodyPr/>
          <a:lstStyle/>
          <a:p>
            <a:pPr marL="48600" indent="0">
              <a:buNone/>
            </a:pPr>
            <a:r>
              <a:rPr lang="en-US" altLang="ko-KR" b="1" dirty="0"/>
              <a:t>8) Optimizing </a:t>
            </a:r>
          </a:p>
          <a:p>
            <a:pPr lvl="1"/>
            <a:r>
              <a:rPr lang="en-US" altLang="ko-KR" b="1" dirty="0"/>
              <a:t>Optimizing and Export Airfoil </a:t>
            </a:r>
            <a:r>
              <a:rPr lang="ko-KR" altLang="en-US" b="1" dirty="0"/>
              <a:t>모드 진입</a:t>
            </a:r>
            <a:endParaRPr lang="en-US" altLang="ko-KR" b="1" dirty="0"/>
          </a:p>
          <a:p>
            <a:pPr lvl="1"/>
            <a:r>
              <a:rPr lang="en-US" altLang="ko-KR" dirty="0"/>
              <a:t>Minimum Cl,  Maximum Cm (inverse) </a:t>
            </a:r>
            <a:r>
              <a:rPr lang="ko-KR" altLang="en-US" dirty="0"/>
              <a:t>제약조건 입력</a:t>
            </a:r>
            <a:endParaRPr lang="en-US" altLang="ko-KR" dirty="0"/>
          </a:p>
          <a:p>
            <a:pPr lvl="1"/>
            <a:r>
              <a:rPr lang="en-US" altLang="ko-KR" dirty="0"/>
              <a:t>Cross Validation</a:t>
            </a:r>
            <a:r>
              <a:rPr lang="ko-KR" altLang="en-US" dirty="0"/>
              <a:t>은 </a:t>
            </a:r>
            <a:r>
              <a:rPr lang="en-US" altLang="ko-KR" dirty="0"/>
              <a:t>n (</a:t>
            </a:r>
            <a:r>
              <a:rPr lang="ko-KR" altLang="en-US" dirty="0"/>
              <a:t>코드 미완성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b="1" dirty="0">
                <a:solidFill>
                  <a:srgbClr val="C00000"/>
                </a:solidFill>
              </a:rPr>
              <a:t>처음에 </a:t>
            </a:r>
            <a:r>
              <a:rPr lang="en-US" altLang="ko-KR" b="1" dirty="0">
                <a:solidFill>
                  <a:srgbClr val="C00000"/>
                </a:solidFill>
              </a:rPr>
              <a:t>Baseline Airfoil</a:t>
            </a:r>
            <a:r>
              <a:rPr lang="ko-KR" altLang="en-US" b="1" dirty="0">
                <a:solidFill>
                  <a:srgbClr val="C00000"/>
                </a:solidFill>
              </a:rPr>
              <a:t>로 선정했던 </a:t>
            </a:r>
            <a:r>
              <a:rPr lang="ko-KR" altLang="en-US" b="1" dirty="0" err="1">
                <a:solidFill>
                  <a:srgbClr val="C00000"/>
                </a:solidFill>
              </a:rPr>
              <a:t>익형을</a:t>
            </a:r>
            <a:r>
              <a:rPr lang="ko-KR" altLang="en-US" b="1" dirty="0">
                <a:solidFill>
                  <a:srgbClr val="C00000"/>
                </a:solidFill>
              </a:rPr>
              <a:t> 다시 선택 </a:t>
            </a:r>
            <a:r>
              <a:rPr lang="en-US" altLang="ko-KR" b="1" dirty="0">
                <a:solidFill>
                  <a:srgbClr val="C00000"/>
                </a:solidFill>
                <a:highlight>
                  <a:srgbClr val="FFFF00"/>
                </a:highlight>
              </a:rPr>
              <a:t>“</a:t>
            </a:r>
            <a:r>
              <a:rPr lang="ko-KR" altLang="en-US" b="1" dirty="0">
                <a:solidFill>
                  <a:srgbClr val="C00000"/>
                </a:solidFill>
                <a:highlight>
                  <a:srgbClr val="FFFF00"/>
                </a:highlight>
              </a:rPr>
              <a:t>중요</a:t>
            </a:r>
            <a:r>
              <a:rPr lang="en-US" altLang="ko-KR" b="1" dirty="0">
                <a:solidFill>
                  <a:srgbClr val="C00000"/>
                </a:solidFill>
                <a:highlight>
                  <a:srgbClr val="FFFF00"/>
                </a:highlight>
              </a:rPr>
              <a:t>!”</a:t>
            </a:r>
          </a:p>
          <a:p>
            <a:pPr lvl="1"/>
            <a:r>
              <a:rPr lang="en-US" altLang="ko-KR" dirty="0"/>
              <a:t>XFOIL </a:t>
            </a:r>
            <a:r>
              <a:rPr lang="ko-KR" altLang="en-US" dirty="0"/>
              <a:t>자동 실행 및 </a:t>
            </a:r>
            <a:r>
              <a:rPr lang="ko-KR" altLang="en-US" dirty="0" err="1"/>
              <a:t>익형</a:t>
            </a:r>
            <a:r>
              <a:rPr lang="ko-KR" altLang="en-US" dirty="0"/>
              <a:t> 제작</a:t>
            </a:r>
            <a:endParaRPr lang="en-US" altLang="ko-KR" dirty="0"/>
          </a:p>
          <a:p>
            <a:pPr lvl="1"/>
            <a:r>
              <a:rPr lang="en-US" altLang="ko-KR" dirty="0"/>
              <a:t>OUTPUT DATA </a:t>
            </a:r>
            <a:r>
              <a:rPr lang="ko-KR" altLang="en-US" dirty="0"/>
              <a:t>폴더에 </a:t>
            </a:r>
            <a:r>
              <a:rPr lang="en-US" altLang="ko-KR" dirty="0"/>
              <a:t>output_krig_airfoil.dat</a:t>
            </a:r>
            <a:r>
              <a:rPr lang="ko-KR" altLang="en-US" dirty="0"/>
              <a:t> 이름으로 </a:t>
            </a:r>
            <a:r>
              <a:rPr lang="ko-KR" altLang="en-US" dirty="0" err="1"/>
              <a:t>익형</a:t>
            </a:r>
            <a:r>
              <a:rPr lang="ko-KR" altLang="en-US" dirty="0"/>
              <a:t> 생성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EF03D93-F692-3D3C-EDD8-5F19AAAC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Optimizing Process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07A6234-B23F-3D37-A54D-DE902B4441EA}"/>
              </a:ext>
            </a:extLst>
          </p:cNvPr>
          <p:cNvGrpSpPr/>
          <p:nvPr/>
        </p:nvGrpSpPr>
        <p:grpSpPr>
          <a:xfrm>
            <a:off x="8216269" y="1473200"/>
            <a:ext cx="3169640" cy="1832725"/>
            <a:chOff x="8603260" y="1155298"/>
            <a:chExt cx="3169640" cy="183272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8D549C7-E4E6-EADE-2950-755EF13E1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03260" y="1155298"/>
              <a:ext cx="3169640" cy="1832725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D7A2182-6E03-50FA-10FB-3530672DAAE3}"/>
                </a:ext>
              </a:extLst>
            </p:cNvPr>
            <p:cNvSpPr/>
            <p:nvPr/>
          </p:nvSpPr>
          <p:spPr>
            <a:xfrm>
              <a:off x="8642991" y="2452604"/>
              <a:ext cx="3000375" cy="142875"/>
            </a:xfrm>
            <a:prstGeom prst="rect">
              <a:avLst/>
            </a:prstGeom>
            <a:solidFill>
              <a:srgbClr val="FF0000">
                <a:alpha val="1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86C70889-EBDE-87C3-9777-0D315A1AA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518" y="3611450"/>
            <a:ext cx="3094689" cy="2852218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6D245E05-5EF6-1788-FBB1-6DCF8DB783DD}"/>
              </a:ext>
            </a:extLst>
          </p:cNvPr>
          <p:cNvGrpSpPr/>
          <p:nvPr/>
        </p:nvGrpSpPr>
        <p:grpSpPr>
          <a:xfrm>
            <a:off x="1181470" y="3589600"/>
            <a:ext cx="3999964" cy="2864117"/>
            <a:chOff x="1152215" y="3305925"/>
            <a:chExt cx="4744112" cy="3333979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BE05410-D073-3224-E44E-EF69EE967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2215" y="4536875"/>
              <a:ext cx="3714697" cy="2103029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265A0B0-6D10-66E6-0165-AC3119579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52215" y="3305925"/>
              <a:ext cx="4744112" cy="1267002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3B05DDD2-F35A-7F76-DEBD-8F76258F13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2130" y="3919744"/>
            <a:ext cx="1514686" cy="79068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BDF1690-B531-CC11-8A02-CAD8D7A4AE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2574" y="4837893"/>
            <a:ext cx="2381582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41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21C1-2551-C9E1-6DBF-BBA69C858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146AA4C-B986-7F72-A293-65E6F0B5B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987" y="1238948"/>
            <a:ext cx="10735197" cy="4931094"/>
          </a:xfrm>
        </p:spPr>
        <p:txBody>
          <a:bodyPr/>
          <a:lstStyle/>
          <a:p>
            <a:pPr marL="48600" indent="0">
              <a:buNone/>
            </a:pPr>
            <a:r>
              <a:rPr lang="en-US" altLang="ko-KR" b="1" dirty="0"/>
              <a:t>9) Validation </a:t>
            </a:r>
          </a:p>
          <a:p>
            <a:pPr lvl="1"/>
            <a:r>
              <a:rPr lang="ko-KR" altLang="en-US" b="1" dirty="0"/>
              <a:t>최적화 및 생성된 </a:t>
            </a:r>
            <a:r>
              <a:rPr lang="ko-KR" altLang="en-US" b="1" dirty="0" err="1"/>
              <a:t>익형을</a:t>
            </a:r>
            <a:r>
              <a:rPr lang="ko-KR" altLang="en-US" b="1" dirty="0"/>
              <a:t> </a:t>
            </a:r>
            <a:r>
              <a:rPr lang="en-US" altLang="ko-KR" b="1" dirty="0"/>
              <a:t>XFLR5</a:t>
            </a:r>
            <a:r>
              <a:rPr lang="ko-KR" altLang="en-US" b="1" dirty="0"/>
              <a:t>를 이용하여 검증</a:t>
            </a:r>
            <a:endParaRPr lang="en-US" altLang="ko-KR" b="1" dirty="0"/>
          </a:p>
          <a:p>
            <a:pPr lvl="1"/>
            <a:r>
              <a:rPr lang="en-US" altLang="ko-KR" b="1" dirty="0"/>
              <a:t>Alpha Scan </a:t>
            </a:r>
            <a:r>
              <a:rPr lang="ko-KR" altLang="en-US" b="1" dirty="0"/>
              <a:t>수행</a:t>
            </a:r>
            <a:endParaRPr lang="en-US" altLang="ko-KR" b="1" dirty="0"/>
          </a:p>
          <a:p>
            <a:pPr lvl="1"/>
            <a:r>
              <a:rPr lang="en-US" altLang="ko-KR" b="1" dirty="0"/>
              <a:t>Kriging</a:t>
            </a:r>
            <a:r>
              <a:rPr lang="ko-KR" altLang="en-US" b="1" dirty="0"/>
              <a:t> </a:t>
            </a:r>
            <a:r>
              <a:rPr lang="en-US" altLang="ko-KR" b="1" dirty="0"/>
              <a:t>Output</a:t>
            </a:r>
            <a:r>
              <a:rPr lang="ko-KR" altLang="en-US" b="1" dirty="0"/>
              <a:t>과 </a:t>
            </a:r>
            <a:r>
              <a:rPr lang="en-US" altLang="ko-KR" b="1" dirty="0"/>
              <a:t>XFLR5 Output,</a:t>
            </a:r>
            <a:r>
              <a:rPr lang="ko-KR" altLang="en-US" b="1" dirty="0"/>
              <a:t> </a:t>
            </a:r>
            <a:r>
              <a:rPr lang="en-US" altLang="ko-KR" b="1" dirty="0"/>
              <a:t>Baseline Airfoil Data</a:t>
            </a:r>
            <a:r>
              <a:rPr lang="ko-KR" altLang="en-US" b="1" dirty="0"/>
              <a:t>와 상호비교</a:t>
            </a:r>
            <a:endParaRPr lang="en-US" altLang="ko-KR" b="1" dirty="0"/>
          </a:p>
          <a:p>
            <a:pPr lvl="1"/>
            <a:r>
              <a:rPr lang="ko-KR" altLang="en-US" b="1" dirty="0"/>
              <a:t>상호비교 후 적당한 오차라고 생각되면 </a:t>
            </a:r>
            <a:r>
              <a:rPr lang="ko-KR" altLang="en-US" b="1" dirty="0" err="1"/>
              <a:t>레이놀즈수를</a:t>
            </a:r>
            <a:r>
              <a:rPr lang="ko-KR" altLang="en-US" b="1" dirty="0"/>
              <a:t> </a:t>
            </a:r>
            <a:r>
              <a:rPr lang="ko-KR" altLang="en-US" b="1" dirty="0" err="1"/>
              <a:t>바꾸어가며</a:t>
            </a:r>
            <a:r>
              <a:rPr lang="ko-KR" altLang="en-US" b="1" dirty="0"/>
              <a:t> </a:t>
            </a:r>
            <a:r>
              <a:rPr lang="en-US" altLang="ko-KR" b="1" dirty="0"/>
              <a:t>Off-Design Condition</a:t>
            </a:r>
            <a:r>
              <a:rPr lang="ko-KR" altLang="en-US" b="1" dirty="0"/>
              <a:t>에서 성능검증 </a:t>
            </a:r>
            <a:endParaRPr lang="en-US" altLang="ko-KR" b="1" dirty="0"/>
          </a:p>
          <a:p>
            <a:pPr lvl="1"/>
            <a:r>
              <a:rPr lang="ko-KR" altLang="en-US" b="1" dirty="0"/>
              <a:t>적당하지 않은 </a:t>
            </a:r>
            <a:r>
              <a:rPr lang="ko-KR" altLang="en-US" b="1" dirty="0" err="1"/>
              <a:t>오차거나</a:t>
            </a:r>
            <a:r>
              <a:rPr lang="en-US" altLang="ko-KR" b="1" dirty="0"/>
              <a:t>,</a:t>
            </a:r>
            <a:r>
              <a:rPr lang="ko-KR" altLang="en-US" b="1" dirty="0"/>
              <a:t> 목표성능이 </a:t>
            </a:r>
            <a:r>
              <a:rPr lang="ko-KR" altLang="en-US" b="1" dirty="0" err="1"/>
              <a:t>안나오면</a:t>
            </a:r>
            <a:r>
              <a:rPr lang="ko-KR" altLang="en-US" b="1" dirty="0"/>
              <a:t> 다시 </a:t>
            </a:r>
            <a:r>
              <a:rPr lang="ko-KR" altLang="en-US" b="1" dirty="0" err="1"/>
              <a:t>샘플점</a:t>
            </a:r>
            <a:r>
              <a:rPr lang="ko-KR" altLang="en-US" b="1" dirty="0"/>
              <a:t> 선정으로 회귀 및 반복수행</a:t>
            </a:r>
            <a:endParaRPr lang="en-US" altLang="ko-KR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EF03D93-F692-3D3C-EDD8-5F19AAAC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Optimizing Process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6D4F19-3959-28A3-F350-512F64234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14" y="3452110"/>
            <a:ext cx="3407165" cy="301155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F1CF756-BF57-2E81-9541-D189594AF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14" y="5166791"/>
            <a:ext cx="3379341" cy="11458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1E4B93F-03B0-E3D2-DE0F-124016834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921" y="3327325"/>
            <a:ext cx="3115110" cy="10669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2232E6D-8082-BE58-A100-42EA6C9A2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551" y="4423208"/>
            <a:ext cx="2293850" cy="205944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B92EB8A-17BE-4EB6-26D2-51F4D84E1F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5278" y="3183408"/>
            <a:ext cx="3526633" cy="2901342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C094EE-FDFF-47C4-5715-E0FCCC8AFA01}"/>
              </a:ext>
            </a:extLst>
          </p:cNvPr>
          <p:cNvSpPr/>
          <p:nvPr/>
        </p:nvSpPr>
        <p:spPr>
          <a:xfrm>
            <a:off x="9712506" y="5337377"/>
            <a:ext cx="1601590" cy="231104"/>
          </a:xfrm>
          <a:prstGeom prst="rect">
            <a:avLst/>
          </a:prstGeom>
          <a:solidFill>
            <a:srgbClr val="FF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6709B29-D9AF-E0D5-610C-2D55FDEFB305}"/>
              </a:ext>
            </a:extLst>
          </p:cNvPr>
          <p:cNvSpPr/>
          <p:nvPr/>
        </p:nvSpPr>
        <p:spPr>
          <a:xfrm>
            <a:off x="6583483" y="3651190"/>
            <a:ext cx="934917" cy="184210"/>
          </a:xfrm>
          <a:prstGeom prst="rect">
            <a:avLst/>
          </a:prstGeom>
          <a:solidFill>
            <a:srgbClr val="FF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65B87E-F835-B885-8774-BCAF8A49DBEA}"/>
              </a:ext>
            </a:extLst>
          </p:cNvPr>
          <p:cNvSpPr/>
          <p:nvPr/>
        </p:nvSpPr>
        <p:spPr>
          <a:xfrm>
            <a:off x="6587384" y="3835400"/>
            <a:ext cx="934917" cy="184210"/>
          </a:xfrm>
          <a:prstGeom prst="rect">
            <a:avLst/>
          </a:prstGeom>
          <a:solidFill>
            <a:srgbClr val="FF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E71E63-AB7A-992B-C3CF-82AC769E2502}"/>
              </a:ext>
            </a:extLst>
          </p:cNvPr>
          <p:cNvSpPr/>
          <p:nvPr/>
        </p:nvSpPr>
        <p:spPr>
          <a:xfrm>
            <a:off x="6218464" y="5647620"/>
            <a:ext cx="934917" cy="184210"/>
          </a:xfrm>
          <a:prstGeom prst="rect">
            <a:avLst/>
          </a:prstGeom>
          <a:solidFill>
            <a:srgbClr val="FF0000">
              <a:alpha val="1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182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79E042AEC7A4F40BCA9C4A655B4B4F3" ma:contentTypeVersion="18" ma:contentTypeDescription="새 문서를 만듭니다." ma:contentTypeScope="" ma:versionID="0ac615096dcfe04454cd3768e1dd695c">
  <xsd:schema xmlns:xsd="http://www.w3.org/2001/XMLSchema" xmlns:xs="http://www.w3.org/2001/XMLSchema" xmlns:p="http://schemas.microsoft.com/office/2006/metadata/properties" xmlns:ns2="101b5dbe-5eae-4743-8fb6-e32116270c97" xmlns:ns3="821cd8e8-fa03-4ca6-8e2d-fdbf07b75412" targetNamespace="http://schemas.microsoft.com/office/2006/metadata/properties" ma:root="true" ma:fieldsID="9583c2cc89595b9c72ca9c0bdcb642b1" ns2:_="" ns3:_="">
    <xsd:import namespace="101b5dbe-5eae-4743-8fb6-e32116270c97"/>
    <xsd:import namespace="821cd8e8-fa03-4ca6-8e2d-fdbf07b754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1b5dbe-5eae-4743-8fb6-e32116270c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이미지 태그" ma:readOnly="false" ma:fieldId="{5cf76f15-5ced-4ddc-b409-7134ff3c332f}" ma:taxonomyMulti="true" ma:sspId="a4e8471c-0628-4bac-89e4-fe066fbe99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1cd8e8-fa03-4ca6-8e2d-fdbf07b7541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7c51639-8a2f-44eb-a91f-a682cf6f58f9}" ma:internalName="TaxCatchAll" ma:showField="CatchAllData" ma:web="821cd8e8-fa03-4ca6-8e2d-fdbf07b7541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1cd8e8-fa03-4ca6-8e2d-fdbf07b75412" xsi:nil="true"/>
    <lcf76f155ced4ddcb4097134ff3c332f xmlns="101b5dbe-5eae-4743-8fb6-e32116270c97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854D81-D1B0-4C5A-9D60-386585BF25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1b5dbe-5eae-4743-8fb6-e32116270c97"/>
    <ds:schemaRef ds:uri="821cd8e8-fa03-4ca6-8e2d-fdbf07b754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6EB980-BCB9-4EA2-83BE-48FD521F46F0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101b5dbe-5eae-4743-8fb6-e32116270c97"/>
    <ds:schemaRef ds:uri="http://purl.org/dc/terms/"/>
    <ds:schemaRef ds:uri="821cd8e8-fa03-4ca6-8e2d-fdbf07b75412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9A705AC-93AA-4F89-807D-995C73BF5D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2666</TotalTime>
  <Words>752</Words>
  <Application>Microsoft Office PowerPoint</Application>
  <PresentationFormat>와이드스크린</PresentationFormat>
  <Paragraphs>119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2013 - 2022 테마</vt:lpstr>
      <vt:lpstr>Kriging Airfoil Design Optimizer</vt:lpstr>
      <vt:lpstr>1. Introduction</vt:lpstr>
      <vt:lpstr>1. Introduction</vt:lpstr>
      <vt:lpstr>1. Introduction</vt:lpstr>
      <vt:lpstr>Optimizing Process</vt:lpstr>
      <vt:lpstr>Optimizing Process</vt:lpstr>
      <vt:lpstr>Optimizing Process</vt:lpstr>
      <vt:lpstr>Optimizing Process</vt:lpstr>
      <vt:lpstr>Optimizing Process</vt:lpstr>
      <vt:lpstr>Optimizing Process</vt:lpstr>
      <vt:lpstr>Optimizing Process</vt:lpstr>
      <vt:lpstr>Optimizing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Subscale UAV - Parachute</dc:title>
  <dc:creator>권순목</dc:creator>
  <cp:lastModifiedBy>김태종</cp:lastModifiedBy>
  <cp:revision>13</cp:revision>
  <dcterms:created xsi:type="dcterms:W3CDTF">2021-02-05T07:01:42Z</dcterms:created>
  <dcterms:modified xsi:type="dcterms:W3CDTF">2024-10-25T05:49:52Z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0x010100B79E042AEC7A4F40BCA9C4A655B4B4F3</vt:lpwstr>
  </property>
  <property fmtid="{D5CDD505-2E9C-101B-9397-08002B2CF9AE}" pid="3" name="MediaServiceImageTags">
    <vt:lpwstr/>
  </property>
</Properties>
</file>